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028fa8fdd49bc" /><Relationship Type="http://schemas.openxmlformats.org/officeDocument/2006/relationships/extended-properties" Target="/docProps/app.xml" Id="R84cf1b49ff3b4127" /><Relationship Type="http://schemas.openxmlformats.org/officeDocument/2006/relationships/officeDocument" Target="/ppt/presentation.xml" Id="R9a56839ebf19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333ea4ea3437a"/>
  </p:sldMasterIdLst>
  <p:notesMasterIdLst>
    <p:notesMasterId xmlns:r="http://schemas.openxmlformats.org/officeDocument/2006/relationships" r:id="Red4bc2698da64737"/>
  </p:notesMasterIdLst>
  <p:sldIdLst>
    <p:sldId xmlns:r="http://schemas.openxmlformats.org/officeDocument/2006/relationships" id="256" r:id="Rb2d16d014c6d4e6c"/>
    <p:sldId xmlns:r="http://schemas.openxmlformats.org/officeDocument/2006/relationships" id="257" r:id="R8fae2b8e02eb4c0d"/>
    <p:sldId xmlns:r="http://schemas.openxmlformats.org/officeDocument/2006/relationships" id="258" r:id="R18511402e65b4778"/>
    <p:sldId xmlns:r="http://schemas.openxmlformats.org/officeDocument/2006/relationships" id="259" r:id="Rb120e5a08b2f4d61"/>
    <p:sldId xmlns:r="http://schemas.openxmlformats.org/officeDocument/2006/relationships" id="260" r:id="Rb0e953e15a8f4e6c"/>
    <p:sldId xmlns:r="http://schemas.openxmlformats.org/officeDocument/2006/relationships" id="261" r:id="R34bc7f9c46c6446b"/>
    <p:sldId xmlns:r="http://schemas.openxmlformats.org/officeDocument/2006/relationships" id="262" r:id="R38cc78823cc14e96"/>
    <p:sldId xmlns:r="http://schemas.openxmlformats.org/officeDocument/2006/relationships" id="263" r:id="R20b30f5596134f56"/>
    <p:sldId xmlns:r="http://schemas.openxmlformats.org/officeDocument/2006/relationships" id="264" r:id="R2e9569e3b44b44e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21fba493c44eeb" /><Relationship Type="http://schemas.openxmlformats.org/officeDocument/2006/relationships/slideMaster" Target="/ppt/slideMasters/slideMaster1.xml" Id="R237333ea4ea3437a" /><Relationship Type="http://schemas.openxmlformats.org/officeDocument/2006/relationships/notesMaster" Target="/ppt/notesMasters/notesMaster1.xml" Id="Red4bc2698da64737" /><Relationship Type="http://schemas.openxmlformats.org/officeDocument/2006/relationships/presProps" Target="/ppt/presProps.xml" Id="R20ffcc698cb9493b" /><Relationship Type="http://schemas.openxmlformats.org/officeDocument/2006/relationships/viewProps" Target="/ppt/viewProps.xml" Id="R759087acec9249eb" /><Relationship Type="http://schemas.openxmlformats.org/officeDocument/2006/relationships/tableStyles" Target="/ppt/tableStyles.xml" Id="Rd79ac203ad934a63" /><Relationship Type="http://schemas.openxmlformats.org/officeDocument/2006/relationships/slide" Target="/ppt/slides/slide1.xml" Id="Rb2d16d014c6d4e6c" /><Relationship Type="http://schemas.openxmlformats.org/officeDocument/2006/relationships/slide" Target="/ppt/slides/slide2.xml" Id="R8fae2b8e02eb4c0d" /><Relationship Type="http://schemas.openxmlformats.org/officeDocument/2006/relationships/slide" Target="/ppt/slides/slide3.xml" Id="R18511402e65b4778" /><Relationship Type="http://schemas.openxmlformats.org/officeDocument/2006/relationships/slide" Target="/ppt/slides/slide4.xml" Id="Rb120e5a08b2f4d61" /><Relationship Type="http://schemas.openxmlformats.org/officeDocument/2006/relationships/slide" Target="/ppt/slides/slide5.xml" Id="Rb0e953e15a8f4e6c" /><Relationship Type="http://schemas.openxmlformats.org/officeDocument/2006/relationships/slide" Target="/ppt/slides/slide6.xml" Id="R34bc7f9c46c6446b" /><Relationship Type="http://schemas.openxmlformats.org/officeDocument/2006/relationships/slide" Target="/ppt/slides/slide7.xml" Id="R38cc78823cc14e96" /><Relationship Type="http://schemas.openxmlformats.org/officeDocument/2006/relationships/slide" Target="/ppt/slides/slide8.xml" Id="R20b30f5596134f56" /><Relationship Type="http://schemas.openxmlformats.org/officeDocument/2006/relationships/slide" Target="/ppt/slides/slide9.xml" Id="R2e9569e3b44b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fab15270ed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8f6d9e18324549" /><Relationship Type="http://schemas.openxmlformats.org/officeDocument/2006/relationships/notesMaster" Target="/ppt/notesMasters/notesMaster1.xml" Id="R53e10a8dc5a2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c1fc097177469c" /><Relationship Type="http://schemas.openxmlformats.org/officeDocument/2006/relationships/notesMaster" Target="/ppt/notesMasters/notesMaster1.xml" Id="R08f6defa50aa46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e69572df974b03" /><Relationship Type="http://schemas.openxmlformats.org/officeDocument/2006/relationships/notesMaster" Target="/ppt/notesMasters/notesMaster1.xml" Id="Rc87ec896a7a54d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6044665504bf8" /><Relationship Type="http://schemas.openxmlformats.org/officeDocument/2006/relationships/notesMaster" Target="/ppt/notesMasters/notesMaster1.xml" Id="Rc101515d2984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339cdbe074661" /><Relationship Type="http://schemas.openxmlformats.org/officeDocument/2006/relationships/notesMaster" Target="/ppt/notesMasters/notesMaster1.xml" Id="R7f8e972018ef46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3170e174f44249" /><Relationship Type="http://schemas.openxmlformats.org/officeDocument/2006/relationships/notesMaster" Target="/ppt/notesMasters/notesMaster1.xml" Id="R007133fce70641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a526934b8644dc" /><Relationship Type="http://schemas.openxmlformats.org/officeDocument/2006/relationships/notesMaster" Target="/ppt/notesMasters/notesMaster1.xml" Id="Rf92710a2a3e6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ad794a5d7842a9" /><Relationship Type="http://schemas.openxmlformats.org/officeDocument/2006/relationships/notesMaster" Target="/ppt/notesMasters/notesMaster1.xml" Id="R1187fc3530964e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76ceb047d34bee" /><Relationship Type="http://schemas.openxmlformats.org/officeDocument/2006/relationships/notesMaster" Target="/ppt/notesMasters/notesMaster1.xml" Id="R565e4d4d496348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开场：大家好，我是李思远，密院这边是ME，UMich是CS，今年秋天去CMU读MS in Robotics。今天主要分享robotics方向研究型硕士的申请经验，比较随意，有问题可以Q&amp;A环节随时问。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先快速介绍一下我的情况。我在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UMich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是 CS，GPA 4.0，交大这边 ME 是 3.67。科研一共三段：一段在交大做 SLAM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相关的评测，两段在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UMich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做具身导航和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VLN，期间也参与了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DARPA 的 TIAMAT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项目。申请的时候我有一篇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ICRA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的共同一作在投，现在已经接收了。申请主要投了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robotics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类的研究型硕士，最后去向是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CMU MSR。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很多同学会纠结直接申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PhD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还是先读个硕士，我当时选硕士主要有三个原因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第一，方向变化太快。Robotics、embodied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AI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这两年是突然大火的，方法和技术更新迭代特别快。我当时不确定自己做的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VLN、VLA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这个方向，等我读博的那几年里还能不能继续火，以及这套东西是不是真的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work。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第二，我想再观望一下。想利用读硕这两年多尝试一些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learning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的方向，看看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embodied AI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会不会出现一些新的范式、新的方法，值得自己去尝试和探索，再决定博士做什么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第三，是担心论文数量不够。我申请的时候只有一篇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ICRA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在投，害怕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publication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数量撑不起层级比较高的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PhD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申请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不过现在回头看，第三个担忧其实是不存在的。只要你的文章能挂出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arXiv、你是主要贡献者、文章本身有一定意义，然后你在面试的时候能跟教授讲清楚三件事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——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你自己的贡献细节、这篇论文的意义、以及你对这个方向的理解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——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教授一般更吃这个。因为你是本科生，教授不会太苛求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paper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的数量。所以如果你主要是这个顾虑，其实可以大胆一点直接冲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PhD。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然后讲讲交叉背景。像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CMU、UPenn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这类学校的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robotics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项目，其实很欣赏交叉背景，UPenn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Robotics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今年就录了好几个密院的同学。这里说句实话：虽然在我的观点里，ME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对 robotics 和 embodied AI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的实际作用其实并不大，但还是一定要把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ME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背景展现出来，因为这类项目确实看重交叉背景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具体怎么写，可以参考我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SOP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里的写法：ME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给了我机器人物理结构和运动原理方面的基础，相当于我懂机器人的"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身体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"；CS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的课程让我能设计它的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AI 组件、优化算法效率，相当于负责"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大脑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"。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两个拼在一起，正好为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embodied AI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的研究做足铺垫。SOP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里可以在开头之后单独用一段来强调这个交叉背景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但是友情提示一句：这套只适用于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robotics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项目。如果你申的是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MSCS，就不建议这么写了，感觉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的招生官不太喜欢这种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ME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交叉的叙事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选项目的话，大家可以看看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OpenCS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这个网站，不过它大部分内容是关于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的，robotics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的信息要自己再补充。我自己主要申了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CMU MSR 和 UPenn Robotics。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综合来看，我个人的分层是：T0 是 Stanford 的 MSME 和 CMU MSR；T0.5 是 UPenn Robotics 和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UMich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的 MS Robotics——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其中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UPenn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对密院同学相对友好，今年录了好几个；保底可以拿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Northwestern 和 JHU 的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robotics。当然这个分层是我个人的主观判断，仅供参考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时间线上要注意，CMU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是比较早的，去年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12 月 10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号就要提交了，所以往前倒推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：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建议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8、9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月就把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GRE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考掉。因为两次考试至少要间隔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21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天，早考的话第一次考不好还有二战的机会。我自己是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11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月才去考的，考了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320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出头，想再考一次已经完全没有机会了，这算是我的血泪教训，大家一定要早考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然后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10 月把想申请的项目整理好，每个项目的要求、截止时间列个表；11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月开始集中写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SOP、打磨材料；12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月上旬开始陆续提交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申请材料方面，对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CMU MSR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这种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research-oriented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的项目，我的感受是两条门槛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：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第一，至少要有两段机器人相关的科研经历。我的两段，一段是在交大任老师那边做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SLAM，一段是在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UMich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Henry Liu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老师这边做导航和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VLN，具体细节大家可以看我的简历和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SOP，这里就不展开了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第二，publication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最少得有一篇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arXiv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或者在投，完全没有的话会比较困难。我当时是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ICRA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的共一在投，一作或者共一会更加分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如果你现在还没有科研经历，建议赶紧去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connect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教授。密大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robotics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系经常有招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RA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的邮件，先"水"一段经历积累起来。之后如果能有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pub，哪怕蹭个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n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作也是有用的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——对 CMU MSR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可能不太够，但对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UPenn、UMich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这类项目是巨大的加分项，因为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master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的要求没有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PhD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那么高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SOP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我的结构是这样的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：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开头用一个小故事引入，我写的是坐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Waymo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的经历，引出对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embodied AI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的兴趣，然后简单概括自己的研究、点出现有方法的局限，再说为什么要读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MSR，以及长期目标是读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PhD。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第二段单独讲交叉背景，就是刚才说的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ME 加 CS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怎么互补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中间主体部分逐段展开科研经历。每一段按"动机、做了什么、遇到什么问题、怎么解决、结果、收获"这个逻辑来写，而且让上一段的收获自然引出下一段的动机，整篇是一条线，而不是经历的罗列。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然后一段未来规划，写明确的读博意向，以及想解决的具体研究问题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最后是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why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school，一定要写具体：具体到课程，比如我写了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16-785 和 16-825；具体到想跟的教授，我写的是 Jean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Oh，并且引用了她最近的一篇论文来说明我们的契合点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简历就是常规结构：教育、publication、科研经历、课程项目、技能荣誉。科研经历里面，每个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project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可以拿几条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bullet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列一下，写清楚做了什么，结果尽量量化，比如"比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SOTA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提升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12%"这种。总体上 SOP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负责讲故事，简历负责给证据，两边互相呼应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推荐信我是两封科研推加一封课程推。科研推就找长期合作、真正了解你工作的导师。课程推建议找那种你去过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office hour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问过问题、或者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project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做得比较出彩的课，这样老师写出来的信才具体、不空洞。如果实在没有这样的课，就挑拿过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A 或 A+ 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的课，把自己的简历和要申请的项目列表一起发给老师，碰到比较好的老师，会根据你的经历帮你定制推荐信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  <a:p xmlns:a="http://schemas.openxmlformats.org/drawingml/2006/main">
            <a:br/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我的分享就到这里，祝大家申请顺利！有问题欢迎现在提问，或者之后随时来找我，谢谢大家</a:t>
            </a:r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315a356b1454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a14a10f1984d2d" /><Relationship Type="http://schemas.openxmlformats.org/officeDocument/2006/relationships/slideLayout" Target="/ppt/slideLayouts/slideLayout1.xml" Id="R0c7c15dc5a8340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c15dc5a8340c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2e14c750049ce" /><Relationship Type="http://schemas.openxmlformats.org/officeDocument/2006/relationships/image" Target="/ppt/media/image.png" Id="Rb2c72f194e8e447d" /><Relationship Type="http://schemas.openxmlformats.org/officeDocument/2006/relationships/notesSlide" Target="/ppt/notesSlides/notesSlide1.xml" Id="R2ed934023e2a48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cf71f9d3b4f55" /><Relationship Type="http://schemas.openxmlformats.org/officeDocument/2006/relationships/image" Target="/ppt/media/image2.png" Id="R92f27e35dddc42ac" /><Relationship Type="http://schemas.openxmlformats.org/officeDocument/2006/relationships/image" Target="/ppt/media/image3.png" Id="Re58be8fc45e446aa" /><Relationship Type="http://schemas.openxmlformats.org/officeDocument/2006/relationships/image" Target="/ppt/media/image4.png" Id="Ra3074f87db404176" /><Relationship Type="http://schemas.openxmlformats.org/officeDocument/2006/relationships/image" Target="/ppt/media/image5.png" Id="R3918036fc2854507" /><Relationship Type="http://schemas.openxmlformats.org/officeDocument/2006/relationships/notesSlide" Target="/ppt/notesSlides/notesSlide2.xml" Id="R154f7d69b9284d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85f28fd0640e5" /><Relationship Type="http://schemas.openxmlformats.org/officeDocument/2006/relationships/image" Target="/ppt/media/image6.png" Id="Ra3c4297fb2ac4a85" /><Relationship Type="http://schemas.openxmlformats.org/officeDocument/2006/relationships/image" Target="/ppt/media/image7.png" Id="R42e7888eb6d0487a" /><Relationship Type="http://schemas.openxmlformats.org/officeDocument/2006/relationships/notesSlide" Target="/ppt/notesSlides/notesSlide3.xml" Id="R79cb03461dbe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6967e83084da8" /><Relationship Type="http://schemas.openxmlformats.org/officeDocument/2006/relationships/image" Target="/ppt/media/image8.png" Id="R9f892cc02ba14739" /><Relationship Type="http://schemas.openxmlformats.org/officeDocument/2006/relationships/image" Target="/ppt/media/image9.png" Id="R0b4041219f2b49ba" /><Relationship Type="http://schemas.openxmlformats.org/officeDocument/2006/relationships/image" Target="/ppt/media/image10.png" Id="R7afb20c96b7c4210" /><Relationship Type="http://schemas.openxmlformats.org/officeDocument/2006/relationships/image" Target="/ppt/media/image11.png" Id="R9b06d9d655fd4a08" /><Relationship Type="http://schemas.openxmlformats.org/officeDocument/2006/relationships/image" Target="/ppt/media/image12.png" Id="R0e7d8fd3d2164955" /><Relationship Type="http://schemas.openxmlformats.org/officeDocument/2006/relationships/notesSlide" Target="/ppt/notesSlides/notesSlide4.xml" Id="Rad9e3eb618d744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dd7fc633747a0" /><Relationship Type="http://schemas.openxmlformats.org/officeDocument/2006/relationships/image" Target="/ppt/media/image13.png" Id="R65650cda7c164745" /><Relationship Type="http://schemas.openxmlformats.org/officeDocument/2006/relationships/notesSlide" Target="/ppt/notesSlides/notesSlide5.xml" Id="R8a1aa7def1eb4b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4fde909b49e6" /><Relationship Type="http://schemas.openxmlformats.org/officeDocument/2006/relationships/image" Target="/ppt/media/image14.png" Id="R9ec989fdb7b74917" /><Relationship Type="http://schemas.openxmlformats.org/officeDocument/2006/relationships/image" Target="/ppt/media/image12.png" Id="R8adc7b255ac5432a" /><Relationship Type="http://schemas.openxmlformats.org/officeDocument/2006/relationships/notesSlide" Target="/ppt/notesSlides/notesSlide6.xml" Id="R692e6ee1fb6f4d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f4480c4a349f9" /><Relationship Type="http://schemas.openxmlformats.org/officeDocument/2006/relationships/image" Target="/ppt/media/image4.png" Id="R6d352f21daa6453b" /><Relationship Type="http://schemas.openxmlformats.org/officeDocument/2006/relationships/image" Target="/ppt/media/image15.png" Id="R5d9f43ebbfbd4032" /><Relationship Type="http://schemas.openxmlformats.org/officeDocument/2006/relationships/image" Target="/ppt/media/image7.png" Id="R73e3af065efa432d" /><Relationship Type="http://schemas.openxmlformats.org/officeDocument/2006/relationships/notesSlide" Target="/ppt/notesSlides/notesSlide7.xml" Id="R3b3bfe64dc074d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71423c21b4c75" /><Relationship Type="http://schemas.openxmlformats.org/officeDocument/2006/relationships/image" Target="/ppt/media/image16.png" Id="R9933a2d6ef0b4f97" /><Relationship Type="http://schemas.openxmlformats.org/officeDocument/2006/relationships/notesSlide" Target="/ppt/notesSlides/notesSlide8.xml" Id="R51c4e3d5e3a1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e7265f95a418c" /><Relationship Type="http://schemas.openxmlformats.org/officeDocument/2006/relationships/image" Target="/ppt/media/image17.png" Id="R456b23355e914069" /><Relationship Type="http://schemas.openxmlformats.org/officeDocument/2006/relationships/image" Target="/ppt/media/image4.png" Id="R97f1eaf1ce29404e" /><Relationship Type="http://schemas.openxmlformats.org/officeDocument/2006/relationships/image" Target="/ppt/media/image3.png" Id="R44fd508ac77e464b" /><Relationship Type="http://schemas.openxmlformats.org/officeDocument/2006/relationships/image" Target="/ppt/media/image7.png" Id="R1cdc172cba1741f9" /><Relationship Type="http://schemas.openxmlformats.org/officeDocument/2006/relationships/image" Target="/ppt/media/image.png" Id="Rd5d4773333794f54" /><Relationship Type="http://schemas.openxmlformats.org/officeDocument/2006/relationships/notesSlide" Target="/ppt/notesSlides/notesSlide9.xml" Id="Rfc80763c41664a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23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B17649-252A-4AF0-936C-DC5AD84B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468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72f194e8e44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560" y="4160520"/>
            <a:ext cx="1417320" cy="141732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8C49371C-CC53-401B-AA61-BA62F0D1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-1463040"/>
            <a:ext cx="2743200" cy="274320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E4536B"/>
            </a:solidFill>
            <a:prstDash val="solid"/>
          </a:ln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9D29B98-F2CF-4935-B329-EA64086D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686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E4536B"/>
                </a:solidFill>
                <a:latin typeface="Microsoft YaHei"/>
                <a:ea typeface="Microsoft YaHei"/>
                <a:cs typeface="Microsoft YaHei"/>
              </a:rPr>
              <a:t>2026SU · DD 硕博申请 WORKSHOP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DB6EAE4-0B18-4FF0-8E90-98ABD6E4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93268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Robotics 硕士申请经验分享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DC8D019-8CCF-43E9-99B4-F7B3D04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8503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9BAC4"/>
                </a:solidFill>
                <a:latin typeface="Microsoft YaHei"/>
                <a:ea typeface="Microsoft YaHei"/>
                <a:cs typeface="Microsoft YaHei"/>
              </a:rPr>
              <a:t>从密院 DD 到 CMU MSR：方向选择 · 项目定位 · 申请材料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CBBB34-8A3D-45A1-80FE-AC0B77C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7764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C41230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5158A54-5520-4DDD-916D-116CFF6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624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李思远</a:t>
            </a:r>
            <a:r>
              <a:rPr sz="1500">
                <a:solidFill>
                  <a:srgbClr val="B9BAC4"/>
                </a:solidFill>
                <a:latin typeface="Microsoft YaHei"/>
                <a:ea typeface="Microsoft YaHei"/>
                <a:cs typeface="Microsoft YaHei"/>
              </a:rPr>
              <a:t>    ME @ SJTU  +  CS @ UMich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5319B16-C9E9-4C98-BCB8-BE641E3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772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D8E99"/>
                </a:solidFill>
                <a:latin typeface="Microsoft YaHei"/>
                <a:ea typeface="Microsoft YaHei"/>
                <a:cs typeface="Microsoft YaHei"/>
              </a:rPr>
              <a:t>Incoming @ CMU MS in Robotics (MSR)</a:t>
            </a:r>
          </a:p>
        </p:txBody>
      </p:sp>
    </p:spTree>
    <p:extLst>
      <p:ext uri="{BB962C8B-B14F-4D97-AF65-F5344CB8AC3E}">
        <p14:creationId xmlns:p14="http://schemas.microsoft.com/office/powerpoint/2010/main" val="151643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F510CE9-87AF-4553-ACE0-6208ADA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27e35dddc42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C7C6906-DAEE-472A-9E60-C3A2B527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关于我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733EBBC-491A-49D1-BDF5-9EC8CDA0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593592" cy="4480560"/>
          </a:xfrm>
          <a:prstGeom xmlns:a="http://schemas.openxmlformats.org/drawingml/2006/main" prst="roundRect">
            <a:avLst>
              <a:gd name="adj" fmla="val 2290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FEBC71F-2DCD-491F-9F4D-1906713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83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be8fc45e446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468" y="191886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9978FEE-FEA3-4EC6-85B5-CAFDE3A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783080"/>
            <a:ext cx="24048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教育背景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2049357-9C70-41C9-886E-0B3CAA2E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14600"/>
            <a:ext cx="2898648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UMich</a:t>
            </a: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CS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GPA 4.0 / 4.0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SJTU ME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GPA 3.67 / 4.0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9BF0DDF-1362-4D04-9F7A-F74F9A05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63040"/>
            <a:ext cx="3593592" cy="4480560"/>
          </a:xfrm>
          <a:prstGeom xmlns:a="http://schemas.openxmlformats.org/drawingml/2006/main" prst="roundRect">
            <a:avLst>
              <a:gd name="adj" fmla="val 2290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4800040-2B47-4324-93AF-7BA9C79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783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74f87db404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3508" y="191886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39A97C6F-1E18-4223-98B7-091A3CCA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83080"/>
            <a:ext cx="24048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科研 &amp; 论文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32440658-6E4B-405D-ACC0-E68420C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514600"/>
            <a:ext cx="2898648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3 段科研经历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SLAM @SJTU · 具身导航 / VLN @UMich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ICRA 2026 · 共同一作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申请时在投，现已接收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审稿：ICRA</a:t>
            </a: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 / RA-L</a:t>
            </a:r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8743C55C-0C50-42D6-B9E0-387C21C5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463040"/>
            <a:ext cx="3593592" cy="4480560"/>
          </a:xfrm>
          <a:prstGeom xmlns:a="http://schemas.openxmlformats.org/drawingml/2006/main" prst="roundRect">
            <a:avLst>
              <a:gd name="adj" fmla="val 2290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B06F16BD-6FD0-4448-959C-241486DB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783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8036fc28545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548" y="191886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C356F934-D251-4D9B-BF34-16E50F37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83080"/>
            <a:ext cx="24048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申请结果</a:t>
            </a:r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3B5F1970-CC41-4832-88FA-72F77A9A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514600"/>
            <a:ext cx="2898648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Robotics, CS</a:t>
            </a: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混申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CMU MSR, UPenn MSR, 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Umich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 MSCSE, Columbia MSCS 等</a:t>
            </a:r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3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最终去向</a:t>
            </a:r>
          </a:p>
          <a:p xmlns:a="http://schemas.openxmlformats.org/drawingml/2006/main">
            <a:pPr marL="0" indent="0">
              <a:spcAft>
                <a:spcPts val="12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CMU MSR</a:t>
            </a:r>
          </a:p>
        </p:txBody>
      </p:sp>
    </p:spTree>
    <p:extLst>
      <p:ext uri="{BB962C8B-B14F-4D97-AF65-F5344CB8AC3E}">
        <p14:creationId xmlns:p14="http://schemas.microsoft.com/office/powerpoint/2010/main" val="2060584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79799E8-947D-4045-87F7-CC11DBF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4297fb2ac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8C18A21-5785-4E28-9253-1A3F865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为什么读硕士，而不是直接申 PhD？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B2DBC9B-4360-424E-87D1-6A0A1632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3593592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561250-2B41-4F9C-9E0B-22BE5452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72768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C412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0FAB494-0C74-467D-846C-9FDF3A47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86000"/>
            <a:ext cx="2971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方向变化太快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5AEB0D4-A0A6-41F7-86B1-67EFD6D1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4320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Robotics / Embodied AI 近两年突然爆火，方法与技术迭代极快 —— 不确定自己做的 VLN / VLA 在读博的几年里是否还火、是否真的 work。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A1FE0FA-8B67-4113-9C26-EAE45627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371600"/>
            <a:ext cx="3593592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534B6E6-109C-41D1-B365-2F860601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572768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C412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77C5889-3C3D-45EB-8BDD-B440487F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286000"/>
            <a:ext cx="2971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想再观望、多探索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A2411B5-BA8F-449C-960C-7E33B79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74320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想利用读硕阶段多尝试一些 learning 的方向，看看 Embodied AI 会不会出现值得投入的新范式、新方法。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858A173D-B2A3-4EED-BD42-FCF87087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371600"/>
            <a:ext cx="3593592" cy="2971800"/>
          </a:xfrm>
          <a:prstGeom xmlns:a="http://schemas.openxmlformats.org/drawingml/2006/main" prst="roundRect">
            <a:avLst>
              <a:gd name="adj" fmla="val 2769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CB1D2AC-BD4F-44BB-948E-9BEA6265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572768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C412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26B194B-5AD9-4542-A466-848F66C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286000"/>
            <a:ext cx="2971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担心论文数量不够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EC0F3F1-80DB-4810-9BD4-04EDBA8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743200"/>
            <a:ext cx="2971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申请时只有一篇 ICRA 共一在投，害怕 publication 数量不够，导致申请到的 PhD 层级不够。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A2F525D-2284-430B-ABFC-75FCCC9F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91672" cy="169164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FBECEE"/>
          </a:solidFill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43A86D2-1BC8-4023-B67C-2C2D8B8C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8348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7888eb6d0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" y="510692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6A5E9AE-B33B-425B-8496-1238555B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9966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现在回头看：第 3 条担忧其实并不存在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3BFD9E3-D964-4B7D-AA11-17A3C120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982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只要文章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在投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能挂出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arXiv、你是主要贡献者、文章本身有一定意义，面试时能跟教授讲清楚：自己的贡献细节、论文的意义、对这个方向的理解 —— 教授一般更吃这个。本科生申请，教授不会太苛求 paper 的数量。</a:t>
            </a:r>
          </a:p>
        </p:txBody>
      </p:sp>
    </p:spTree>
    <p:extLst>
      <p:ext uri="{BB962C8B-B14F-4D97-AF65-F5344CB8AC3E}">
        <p14:creationId xmlns:p14="http://schemas.microsoft.com/office/powerpoint/2010/main" val="1910890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A52A13-E0E2-4C9B-8492-29188D7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92cc02ba14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8E440E6-3AEF-461B-A8AF-182E078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交叉背景：ME × CS 怎么讲？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C34526-3271-4FF2-9FCE-DF8E64C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8872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CMU / UPenn 这类学校的 Robotics 项目很欣赏交叉背景 —— </a:t>
            </a:r>
            <a:r>
              <a:rPr sz="14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UPenn Robotics 今年就录了好几个密院同学。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F62901B-D4EA-4D37-AE1C-E543A0AE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83080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SOP 里怎么写（参考我 SOP 的写法）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655A488-AFD7-48F8-A179-BD4984A5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041219f2b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242178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A84D5B3-671F-479B-8227-A05010B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31136"/>
            <a:ext cx="4937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ME → 机器人的「身体」</a:t>
            </a:r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C7FE6B5-035B-435D-BB51-BB84E00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4892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提供物理结构与运动原理的扎实基础，理解具身智能体的硬件本体。</a:t>
            </a:r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B3560A8-040C-4CD7-889B-85EB3DA6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0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b20c96b7c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365622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9E9DB69C-411A-4B3A-BA8B-9EA9DF7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65576"/>
            <a:ext cx="4937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CS → 机器人的「大脑」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DC074117-B5B4-4362-9C2F-21278F56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49624"/>
            <a:ext cx="4892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支撑 AI 组件设计与算法效率优化，负责感知、推理与规划。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A5CF9D0-947A-41B1-B216-0BCAE504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5577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 i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两者合起来 = 为 Embodied AI 研究「做足铺垫」。可以在开头段之后，单独用一段来强调交叉背景。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549FDA61-6697-4539-8238-3D0517FD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5120640" cy="205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32329"/>
          </a:solidFill>
        </p:spPr>
      </p:sp>
      <p:pic>
        <p:nvPicPr>
          <p:cNvPr id="4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6d9d655fd4a08">
            <a:alphaModFix amt="6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2280" y="2057400"/>
            <a:ext cx="347472" cy="347472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B9B1B4F-FB5C-499E-B247-54C8139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487168"/>
            <a:ext cx="452628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虽然在我看来，ME 对 Robotics / Embodied AI 的实际作用并不大，但一定要把 ME 背景展现出来 —— 这类项目确实欣赏交叉背景。</a:t>
            </a:r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47B2908A-9F1A-4E0E-8C04-62C7B01B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14800"/>
            <a:ext cx="5120640" cy="20574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BECEE"/>
          </a:solidFill>
        </p:spPr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1C8AE91A-0FB6-46C2-83D0-1F83E74F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4348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d8fd3d216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5724" y="455828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02D7E808-EEA5-4109-9113-42C9C0A2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462272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注意：只适用于 Robotics 项目</a:t>
            </a:r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72A6C3ED-FF04-482A-9D89-2D230F6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029200"/>
            <a:ext cx="4526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如果申的是 MSCS，不建议强调 ME 交叉 —— CS 的招生官不太喜欢这种叙事。</a:t>
            </a:r>
          </a:p>
        </p:txBody>
      </p:sp>
    </p:spTree>
    <p:extLst>
      <p:ext uri="{BB962C8B-B14F-4D97-AF65-F5344CB8AC3E}">
        <p14:creationId xmlns:p14="http://schemas.microsoft.com/office/powerpoint/2010/main" val="839097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1EE33F4-24A4-4C4A-AE16-0D68829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50cda7c16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2512A36-6DEF-4EDC-8BD5-20DDBCC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选校与定位（Robotics 硕士）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359F2E6-5CC6-4410-BE14-752500A2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找项目可以用 </a:t>
            </a:r>
            <a:r>
              <a:rPr sz="14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OpenCS</a:t>
            </a:r>
            <a:r>
              <a:rPr sz="140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网站（内容偏 CS，Robotics 需自行补充）。我主申了 CMU MSR 和 UPenn Robotics。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C845E30-645A-4C97-8B90-F20DB6D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32588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C41230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143FA80-0F72-404E-A7C7-D518E245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3258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94BF7F9C-8D67-408E-A7A5-FD935D6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17830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BB04A34-DC6B-4B98-A52A-1A0AB274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830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Stanford MSME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9B572C1-D942-41E8-B0E5-402C991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7830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085255A-5B52-46E6-A9D9-9C44A571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830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CMU MSR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research-oriented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4A3AAB3-AF96-44B6-BB0D-5D91A248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32588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4536B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0255059-7C3C-4C22-9332-C4686E7E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3258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T0.5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AC003F-E96A-491F-9CFF-6C9C9602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1546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6201109-AC52-45D8-B673-4C183BFB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1546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UPenn Robotics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对密院同学相对友好，今年录了好几个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0D688E0D-709C-4D61-BDA6-D166C66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1546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F31DB94-01C6-47D1-85CB-254CD984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1546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UMich MS Robotics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科研资源可以直接续上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5045E4AA-A576-49CC-8E0B-2A4B392D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132588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8A8A92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8A86707-2884-4EC1-885E-9CA6C5F0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13258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保底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5BA41DB-046F-4529-9816-590443BC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5262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B3EAC8B-8A0F-4EFC-9C26-A61BCA9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5262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Northwestern MS Robotics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7859CC2-A6FF-442F-A1A9-956D9D8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526280"/>
            <a:ext cx="4617720" cy="105156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A4E810A-2B9C-4E38-82C0-6D48EF7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526280"/>
            <a:ext cx="4114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JHU MSE Robotics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79744FFF-1BED-4D6B-AB79-1D73C8D3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03504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* 分层为个人主观判断，仅供参考。</a:t>
            </a:r>
          </a:p>
        </p:txBody>
      </p:sp>
    </p:spTree>
    <p:extLst>
      <p:ext uri="{BB962C8B-B14F-4D97-AF65-F5344CB8AC3E}">
        <p14:creationId xmlns:p14="http://schemas.microsoft.com/office/powerpoint/2010/main" val="1354647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B5992B-BC99-475B-8F00-A0190DDC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989fdb7b74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B991591-6769-4677-B25E-9B41A2FF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申请时间线（以去年为例）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4BE3F4E8-1E01-4B38-8E9A-FE241D8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61488"/>
            <a:ext cx="10543032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8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EAA9C99-E96A-463E-B7BC-05F1CA0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8 – 9 月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245014C-D0DB-436A-9F58-671F105F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76" y="2633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591C25D-505C-41E8-8FA2-EB1C9B9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考掉 GRE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3955ADD-1B63-487E-9537-EE9289C0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6616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1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早考才有二战机会：两次考试至少间隔 21 天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0DA31D2-6313-4240-BED5-0CB7019E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1488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10 月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50BE7E9-2E12-4F55-B893-61EE573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633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CFC4EA6-4036-43A0-9113-6632682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31546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整理项目清单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A26ADDB-6BB4-44EF-932A-1D7ECC60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356616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1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确定目标项目、各家要求与截止日期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5119567-F0CC-4C82-A125-9BBAF39C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1488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11 月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C18E424-52FE-4827-8A7E-9095C92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633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CFE172C-469B-496B-AF0D-328573AA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1546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集中写 SOP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9286F38-D2FC-4223-B764-A812F36A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356616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1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逐个项目定制修改、打磨申请材料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89D97A5-8483-4AEA-B27F-6F147EB6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1488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12 月上旬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5306CA7-1589-4A5E-B61E-013105D1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63347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DB16950-4AF0-4C0D-89EA-65347077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31546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C00702C-6C76-464E-B6A9-9479E288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56616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1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CMU 最早：去年 12.10 截止，其他陆续提交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835D84F0-3F4C-4797-97DA-A3535F5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91672" cy="13716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ECEE"/>
          </a:solidFill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5A0F49B-57EA-46A5-B0B5-CD959A21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9379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c7b255ac543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124" y="5317236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B8435A8-1212-4D82-B8CC-0FE413A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074920"/>
            <a:ext cx="9875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0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血泪教训：</a:t>
            </a:r>
            <a:r>
              <a:rPr sz="130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我 11 月才首考 GRE，考了 320 出头，想二战已经没有机会 —— 强烈建议 8、9 月就把 GRE 考掉，第一次考不好还能再来一次。</a:t>
            </a:r>
          </a:p>
        </p:txBody>
      </p:sp>
    </p:spTree>
    <p:extLst>
      <p:ext uri="{BB962C8B-B14F-4D97-AF65-F5344CB8AC3E}">
        <p14:creationId xmlns:p14="http://schemas.microsoft.com/office/powerpoint/2010/main" val="1539188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225BE4-5168-4EE4-BDEA-60FFE6DF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52f21daa645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981E83B-74B6-4780-8519-D32D141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科研经历与 Publication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3DEBD05-8E8D-499C-9703-65175574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以 CMU MSR 这类 research-oriented 项目的门槛为参照：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B00C2B6-1E81-42D7-BCAA-316A5E4C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74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43ebbfbd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201030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68F5C84-D214-4585-A6D3-687E9166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828800"/>
            <a:ext cx="4892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至少 2 段机器人相关的科研经历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26C8073-3A93-40AA-8783-208FA29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31720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我的两段：SLAM 评测 @SJTU+ 具身导航 / VLN @UMich。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44FD9F-B7EA-4E48-9CA1-37FD0D9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43ebbfbd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361050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D88C4D56-8288-4898-9F5C-E904273E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29000"/>
            <a:ext cx="4892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如果申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CMU MSR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这类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Research-Oriented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项目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至少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1 篇 arXiv 或在投</a:t>
            </a:r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626B535-A4EA-4D13-A8DA-665DE49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31920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完全没有 publication 会比较困难；一作 / 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共一显著加分</a:t>
            </a:r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4397BE9D-7229-43FB-B608-832DEAA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5120640" cy="4434840"/>
          </a:xfrm>
          <a:prstGeom xmlns:a="http://schemas.openxmlformats.org/drawingml/2006/main" prst="roundRect">
            <a:avLst>
              <a:gd name="adj" fmla="val 1856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2B16F861-875B-42EA-A84E-7FF9660F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1031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3af065efa43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8068" y="223890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3ADAE57A-C01C-4D74-8BC7-B9B620FA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130552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现在还没有科研经历？</a:t>
            </a:r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82732A46-3910-4903-AC74-E1C749D4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880360"/>
            <a:ext cx="44805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sz="13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尽快去 connect 教授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密大 Robotics 系经常有招 RA 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的邮件，先水一段经历积累起来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sz="13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能蹭个</a:t>
            </a:r>
            <a:r>
              <a:rPr sz="13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 n 作也有用</a:t>
            </a:r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对 CMU MSR 可能不太够，但对 UPenn / 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UMich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这类项目是加分项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 —— master 的要求没那么高。</a:t>
            </a:r>
          </a:p>
        </p:txBody>
      </p:sp>
      <p:sp>
        <p:nvSpPr>
          <p:cNvPr id="22" name="Shape 6">
            <a:extLst xmlns:a="http://schemas.openxmlformats.org/drawingml/2006/main">
              <a:ext uri="{FF2B5EF4-FFF2-40B4-BE49-F238E27FC236}">
                <a16:creationId xmlns:a16="http://schemas.microsoft.com/office/drawing/2014/main" id="{4D02C209-8BAC-BF91-E157-C63C07E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36" y="507032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43ebbfbd40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0424" y="5206116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F3628DF8-B714-04F2-83D3-2D489CD5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868" y="5024608"/>
            <a:ext cx="4892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其他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Robotics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项目对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Pub</a:t>
            </a: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基本没要求</a:t>
            </a:r>
          </a:p>
        </p:txBody>
      </p:sp>
      <p:sp>
        <p:nvSpPr>
          <p:cNvPr id="28" name="Text 8">
            <a:extLst xmlns:a="http://schemas.openxmlformats.org/drawingml/2006/main">
              <a:ext uri="{FF2B5EF4-FFF2-40B4-BE49-F238E27FC236}">
                <a16:creationId xmlns:a16="http://schemas.microsoft.com/office/drawing/2014/main" id="{9B688B89-5109-71F6-F24F-8D6A06C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07" y="5408656"/>
            <a:ext cx="4846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有项目经历且有明确的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contribution</a:t>
            </a:r>
            <a:r>
              <a:rPr sz="120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就可以</a:t>
            </a:r>
          </a:p>
        </p:txBody>
      </p:sp>
    </p:spTree>
    <p:extLst>
      <p:ext uri="{BB962C8B-B14F-4D97-AF65-F5344CB8AC3E}">
        <p14:creationId xmlns:p14="http://schemas.microsoft.com/office/powerpoint/2010/main" val="285878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007D8A-3A38-4FC9-BB6C-CD24E095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3a2d6ef0b4f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A586871-6A7C-4C33-B3D5-D8F7EF7B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SOP &amp; Resume 怎么写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314483-F0AD-4E83-966D-A068FD0A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943600" cy="5074920"/>
          </a:xfrm>
          <a:prstGeom xmlns:a="http://schemas.openxmlformats.org/drawingml/2006/main" prst="roundRect">
            <a:avLst>
              <a:gd name="adj" fmla="val 1622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9638B70-BFC0-46DF-9180-F4B7337C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600200"/>
            <a:ext cx="5394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SOP </a:t>
            </a:r>
            <a:r>
              <a:rPr sz="16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20AEDCB-C81B-437A-ABB8-2422E69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5303520" cy="402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① 开头：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兴趣起点的小故事（坐 Waymo）→ 概括研究 + 点出现有局限 → 为什么读 MSR + 长期目标（PhD）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② 交叉背景：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单独一段，讲 ME + CS 如何互补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③ 主体：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逐段展开科研 —— 动机 → 做了什么 → 遇到什么问题 → 怎么解决 → 结果 → 收获，段与段自然衔接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④ 未来规划：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明确的读博意向 + 想解决的具体研究问题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⑤ Why School：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具体课程（16-785 / 16-825）+ 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想跟的教授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+ 引用其论文说明契合度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9A82A8-0FCE-4E5E-A85E-4D0E397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956048" cy="5074920"/>
          </a:xfrm>
          <a:prstGeom xmlns:a="http://schemas.openxmlformats.org/drawingml/2006/main" prst="roundRect">
            <a:avLst>
              <a:gd name="adj" fmla="val 1661"/>
            </a:avLst>
          </a:prstGeom>
          <a:solidFill xmlns:a="http://schemas.openxmlformats.org/drawingml/2006/main">
            <a:srgbClr val="F6F6F7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F83CB47-B943-4BAA-AE4D-9F7235B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600200"/>
            <a:ext cx="4389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Resume 要点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82D9287-97E5-4E21-A7F6-29FD1C04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148840"/>
            <a:ext cx="4343400" cy="402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结构：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教育（含课程与成绩）→ Publication → 科研经历 → 课程项目 → 技能 / 荣誉 / 审稿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科研经历：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每个 project 可以拿几条 bullet 列一下，写清做了什么 + 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量化结果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 b="1">
                <a:solidFill>
                  <a:srgbClr val="C41230"/>
                </a:solidFill>
                <a:latin typeface="Microsoft YaHei"/>
                <a:ea typeface="Microsoft YaHei"/>
                <a:cs typeface="Microsoft YaHei"/>
              </a:rPr>
              <a:t>与 SOP 呼应：</a:t>
            </a:r>
            <a:r>
              <a:rPr sz="1250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SOP 负责讲故事，简历负责给证据</a:t>
            </a:r>
          </a:p>
        </p:txBody>
      </p:sp>
    </p:spTree>
    <p:extLst>
      <p:ext uri="{BB962C8B-B14F-4D97-AF65-F5344CB8AC3E}">
        <p14:creationId xmlns:p14="http://schemas.microsoft.com/office/powerpoint/2010/main" val="5901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E008E37-0160-408C-9494-A7236B0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b23355e91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835" y="582107"/>
            <a:ext cx="243962" cy="243962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7471BED-2C84-4714-BF5B-4128105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84048"/>
            <a:ext cx="10332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推荐信 &amp; 最后的话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87E6EB8-3909-4E5E-908E-8BAE8885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1eaf1ce2940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173598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FCC4A81-2072-44BE-A744-427EDA5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554480"/>
            <a:ext cx="5760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科研推 × 2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6900E4C-3337-42BA-9B4F-9C22F5B4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1965960"/>
            <a:ext cx="5715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找长期合作、真正了解你工作的科研导师。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0BB43591-9C53-4788-BD80-0A70968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3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d508ac77e46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324474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4F91CA88-091B-4B9A-AEB3-E2763F1B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63240"/>
            <a:ext cx="5760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课程推 × 1</a:t>
            </a:r>
          </a:p>
        </p:txBody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58739A24-83A2-4619-8866-565AF1F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74720"/>
            <a:ext cx="5715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优先选去过 Office Hour 问过问题、或 project 做得出彩的课 —— 老师写出来才具体、不空洞。</a:t>
            </a:r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AEDBD050-ECB0-41B6-A1CB-1161E085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17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c172cba1741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716" y="4753508"/>
            <a:ext cx="231343" cy="231343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46E9D81A-92EE-49EE-AF48-60B688E4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572000"/>
            <a:ext cx="5760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262B"/>
                </a:solidFill>
                <a:latin typeface="Microsoft YaHei"/>
                <a:ea typeface="Microsoft YaHei"/>
                <a:cs typeface="Microsoft YaHei"/>
              </a:rPr>
              <a:t>实在没有合适的课？</a:t>
            </a:r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B6F18D68-F306-4A80-BD14-D4BA3ECB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83480"/>
            <a:ext cx="57150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6A72"/>
                </a:solidFill>
                <a:latin typeface="Microsoft YaHei"/>
                <a:ea typeface="Microsoft YaHei"/>
                <a:cs typeface="Microsoft YaHei"/>
              </a:rPr>
              <a:t>挑拿了 A / A+ 的课，把简历 + 申请项目列表一并发给老师；遇到好老师，会按你的经历帮你定制。</a:t>
            </a:r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325131A3-6F45-433E-AE7B-9F04824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00200"/>
            <a:ext cx="4069080" cy="4663440"/>
          </a:xfrm>
          <a:prstGeom xmlns:a="http://schemas.openxmlformats.org/drawingml/2006/main" prst="roundRect">
            <a:avLst>
              <a:gd name="adj" fmla="val 2022"/>
            </a:avLst>
          </a:prstGeom>
          <a:solidFill xmlns:a="http://schemas.openxmlformats.org/drawingml/2006/main">
            <a:srgbClr val="232329"/>
          </a:solidFill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075B476-1EE1-4DCD-AEAD-C79C1EA6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12064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1230"/>
          </a:solidFill>
        </p:spPr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4773333794f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3695" y="5330495"/>
            <a:ext cx="357530" cy="357530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BE308155-1A8F-4E17-8BE3-4B464F4D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194560"/>
            <a:ext cx="3474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375FDAD5-5009-4104-BC75-EE181C82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063240"/>
            <a:ext cx="3474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祝大家申请顺利！</a:t>
            </a:r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F32E15F-6FC7-4441-B8E3-71AEDB9A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611880"/>
            <a:ext cx="3383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>
                <a:solidFill>
                  <a:srgbClr val="B9BAC4"/>
                </a:solidFill>
                <a:latin typeface="Microsoft YaHei"/>
                <a:ea typeface="Microsoft YaHei"/>
                <a:cs typeface="Microsoft YaHei"/>
              </a:rPr>
              <a:t>有问题欢迎随时交流</a:t>
            </a:r>
          </a:p>
        </p:txBody>
      </p:sp>
    </p:spTree>
    <p:extLst>
      <p:ext uri="{BB962C8B-B14F-4D97-AF65-F5344CB8AC3E}">
        <p14:creationId xmlns:p14="http://schemas.microsoft.com/office/powerpoint/2010/main" val="14774872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2026-07-31T02:27:34.1330000Z</dcterms:created>
  <dcterms:modified xsi:type="dcterms:W3CDTF">2026-07-31T02:27:34.1330000Z</dcterms:modified>
</coreProperties>
</file>