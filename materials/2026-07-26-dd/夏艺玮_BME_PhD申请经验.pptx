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6" r:id="rId6"/>
    <p:sldId id="261" r:id="rId7"/>
    <p:sldId id="267" r:id="rId8"/>
    <p:sldId id="269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550F68-5FC0-44B0-B0A7-30F58EB0261B}"/>
              </a:ext>
            </a:extLst>
          </p:cNvPr>
          <p:cNvSpPr>
            <a:spLocks noGrp="1"/>
          </p:cNvSpPr>
          <p:nvPr/>
        </p:nvSpPr>
        <p:spPr>
          <a:xfrm>
            <a:off x="838200" y="1984075"/>
            <a:ext cx="8286750" cy="149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510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BME </a:t>
            </a:r>
            <a:r>
              <a:rPr sz="510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PhD </a:t>
            </a:r>
            <a:r>
              <a:rPr sz="5100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申请</a:t>
            </a:r>
            <a:endParaRPr sz="510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1B9D74-1542-486F-886C-F2A3F503107D}"/>
              </a:ext>
            </a:extLst>
          </p:cNvPr>
          <p:cNvSpPr>
            <a:spLocks noGrp="1"/>
          </p:cNvSpPr>
          <p:nvPr/>
        </p:nvSpPr>
        <p:spPr>
          <a:xfrm>
            <a:off x="930036" y="3134983"/>
            <a:ext cx="9048750" cy="10056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2400" b="1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Yiwei Xia</a:t>
            </a:r>
          </a:p>
          <a:p>
            <a:pPr algn="l">
              <a:defRPr sz="12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2400" b="1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ECE + BME</a:t>
            </a:r>
            <a:endParaRPr sz="2400" b="1" dirty="0">
              <a:solidFill>
                <a:srgbClr val="667085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172428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7E2AE25-DDFC-468C-880C-A2FAC9F45EF7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PhD or MS</a:t>
            </a:r>
            <a:r>
              <a:rPr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？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FF6035F9-8EDA-47CD-88ED-FF6B427AAB7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F476F2-F513-43DF-81FD-1F655D560DCE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6E1FCC-1D3C-4E49-9166-5494DBA54B4B}"/>
              </a:ext>
            </a:extLst>
          </p:cNvPr>
          <p:cNvSpPr>
            <a:spLocks noGrp="1"/>
          </p:cNvSpPr>
          <p:nvPr/>
        </p:nvSpPr>
        <p:spPr>
          <a:xfrm>
            <a:off x="1381125" y="1695450"/>
            <a:ext cx="976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有没有真正感兴趣、也已经有所了解的方向？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381125" y="2819400"/>
            <a:ext cx="9763125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B71533D-97D8-4CA9-9C3C-447A03B905FD}"/>
              </a:ext>
            </a:extLst>
          </p:cNvPr>
          <p:cNvSpPr>
            <a:spLocks noGrp="1"/>
          </p:cNvSpPr>
          <p:nvPr/>
        </p:nvSpPr>
        <p:spPr>
          <a:xfrm>
            <a:off x="476250" y="30670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6EC971-5A06-46E9-864B-C98C1CE0D14D}"/>
              </a:ext>
            </a:extLst>
          </p:cNvPr>
          <p:cNvSpPr>
            <a:spLocks noGrp="1"/>
          </p:cNvSpPr>
          <p:nvPr/>
        </p:nvSpPr>
        <p:spPr>
          <a:xfrm>
            <a:off x="1381125" y="3067050"/>
            <a:ext cx="976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你更喜欢科研，还是工作？科研，还是上课</a:t>
            </a:r>
            <a:r>
              <a:rPr sz="202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？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1381125" y="4191000"/>
            <a:ext cx="9763125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0A2DCF4-1419-41B0-A0B2-48A57DC417B8}"/>
              </a:ext>
            </a:extLst>
          </p:cNvPr>
          <p:cNvSpPr>
            <a:spLocks noGrp="1"/>
          </p:cNvSpPr>
          <p:nvPr/>
        </p:nvSpPr>
        <p:spPr>
          <a:xfrm>
            <a:off x="476250" y="44386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CC5076-E9F6-4507-8E28-3C790207FC26}"/>
              </a:ext>
            </a:extLst>
          </p:cNvPr>
          <p:cNvSpPr>
            <a:spLocks noGrp="1"/>
          </p:cNvSpPr>
          <p:nvPr/>
        </p:nvSpPr>
        <p:spPr>
          <a:xfrm>
            <a:off x="1381125" y="4438650"/>
            <a:ext cx="976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你的经历更像哪条路径？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13E712-FCE9-4071-B992-70999F1AD69A}"/>
              </a:ext>
            </a:extLst>
          </p:cNvPr>
          <p:cNvSpPr>
            <a:spLocks noGrp="1"/>
          </p:cNvSpPr>
          <p:nvPr/>
        </p:nvSpPr>
        <p:spPr>
          <a:xfrm>
            <a:off x="1381125" y="4905375"/>
            <a:ext cx="976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长期科研积累更支持 PhD；多段实习更可能指向职业型选择。</a:t>
            </a:r>
          </a:p>
        </p:txBody>
      </p:sp>
    </p:spTree>
    <p:extLst>
      <p:ext uri="{BB962C8B-B14F-4D97-AF65-F5344CB8AC3E}">
        <p14:creationId xmlns:p14="http://schemas.microsoft.com/office/powerpoint/2010/main" val="45907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D81F589-D825-486F-812B-8D9250BBF42C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Timeline:  </a:t>
            </a: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准备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18B385C-6762-4668-B1CD-34DAAD6B2A7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7F8BF9-8629-43F7-82A9-EFAD4E938F3B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2024–2025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127A54-B5A6-4586-96A0-2DEFA066978C}"/>
              </a:ext>
            </a:extLst>
          </p:cNvPr>
          <p:cNvSpPr>
            <a:spLocks noGrp="1"/>
          </p:cNvSpPr>
          <p:nvPr/>
        </p:nvSpPr>
        <p:spPr>
          <a:xfrm>
            <a:off x="2143125" y="16192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确定申请 PhD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2143125" y="2371725"/>
            <a:ext cx="9286875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8DE0DCA-8569-4CA5-BB65-A613DB82A012}"/>
              </a:ext>
            </a:extLst>
          </p:cNvPr>
          <p:cNvSpPr>
            <a:spLocks noGrp="1"/>
          </p:cNvSpPr>
          <p:nvPr/>
        </p:nvSpPr>
        <p:spPr>
          <a:xfrm>
            <a:off x="476250" y="26765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2025 </a:t>
            </a:r>
            <a:r>
              <a:rPr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5–8 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038B01-1E84-4C95-BFF6-E43507A9DD8B}"/>
              </a:ext>
            </a:extLst>
          </p:cNvPr>
          <p:cNvSpPr>
            <a:spLocks noGrp="1"/>
          </p:cNvSpPr>
          <p:nvPr/>
        </p:nvSpPr>
        <p:spPr>
          <a:xfrm>
            <a:off x="2143125" y="26765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浏览学校与导师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2143125" y="3429000"/>
            <a:ext cx="9286875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01942E53-02DA-47E9-B662-1B189C2FD2FC}"/>
              </a:ext>
            </a:extLst>
          </p:cNvPr>
          <p:cNvSpPr>
            <a:spLocks noGrp="1"/>
          </p:cNvSpPr>
          <p:nvPr/>
        </p:nvSpPr>
        <p:spPr>
          <a:xfrm>
            <a:off x="476250" y="37338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2025 </a:t>
            </a:r>
            <a:r>
              <a:rPr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8 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2E17B7-E003-4797-AB05-4EE0DA75199C}"/>
              </a:ext>
            </a:extLst>
          </p:cNvPr>
          <p:cNvSpPr>
            <a:spLocks noGrp="1"/>
          </p:cNvSpPr>
          <p:nvPr/>
        </p:nvSpPr>
        <p:spPr>
          <a:xfrm>
            <a:off x="2143124" y="3733799"/>
            <a:ext cx="9692317" cy="10572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完成</a:t>
            </a:r>
            <a:r>
              <a:rPr sz="187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SOP </a:t>
            </a:r>
            <a:r>
              <a:rPr sz="1875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与选校初稿</a:t>
            </a:r>
            <a:r>
              <a:rPr lang="en-US" sz="187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</a:t>
            </a:r>
            <a:r>
              <a:rPr lang="zh-CN" altLang="en-US" sz="1875" dirty="0">
                <a:solidFill>
                  <a:srgbClr val="111827"/>
                </a:solidFill>
                <a:ea typeface="Noto Sans SC Thin"/>
                <a:cs typeface="Noto Sans SC Thin"/>
              </a:rPr>
              <a:t>（我总共申请了</a:t>
            </a:r>
            <a:r>
              <a:rPr lang="en-US" altLang="zh-CN" sz="1875" dirty="0">
                <a:solidFill>
                  <a:srgbClr val="111827"/>
                </a:solidFill>
                <a:ea typeface="Noto Sans SC Thin"/>
                <a:cs typeface="Noto Sans SC Thin"/>
              </a:rPr>
              <a:t>20</a:t>
            </a:r>
            <a:r>
              <a:rPr lang="zh-CN" altLang="en-US" sz="1875" dirty="0">
                <a:solidFill>
                  <a:srgbClr val="111827"/>
                </a:solidFill>
                <a:ea typeface="Noto Sans SC Thin"/>
                <a:cs typeface="Noto Sans SC Thin"/>
              </a:rPr>
              <a:t>个</a:t>
            </a:r>
            <a:r>
              <a:rPr lang="en-US" altLang="zh-CN" sz="1875" dirty="0" err="1">
                <a:solidFill>
                  <a:srgbClr val="111827"/>
                </a:solidFill>
                <a:ea typeface="Noto Sans SC Thin"/>
                <a:cs typeface="Noto Sans SC Thin"/>
              </a:rPr>
              <a:t>phd</a:t>
            </a:r>
            <a:r>
              <a:rPr lang="zh-CN" altLang="en-US" sz="1875" dirty="0">
                <a:solidFill>
                  <a:srgbClr val="111827"/>
                </a:solidFill>
                <a:ea typeface="Noto Sans SC Thin"/>
                <a:cs typeface="Noto Sans SC Thin"/>
              </a:rPr>
              <a:t>项目，有的学校申请了两个，有“冲刺”和“保底”，但其实感觉没有必要，</a:t>
            </a:r>
            <a:r>
              <a:rPr lang="en-US" altLang="zh-CN" sz="1875" dirty="0">
                <a:solidFill>
                  <a:srgbClr val="111827"/>
                </a:solidFill>
                <a:ea typeface="Noto Sans SC Thin"/>
                <a:cs typeface="Noto Sans SC Thin"/>
              </a:rPr>
              <a:t>8-12</a:t>
            </a:r>
            <a:r>
              <a:rPr lang="zh-CN" altLang="en-US" sz="1875" dirty="0">
                <a:solidFill>
                  <a:srgbClr val="111827"/>
                </a:solidFill>
                <a:ea typeface="Noto Sans SC Thin"/>
                <a:cs typeface="Noto Sans SC Thin"/>
              </a:rPr>
              <a:t>个足矣）</a:t>
            </a:r>
            <a:endParaRPr sz="1875" dirty="0">
              <a:solidFill>
                <a:srgbClr val="111827"/>
              </a:solidFill>
              <a:ea typeface="Noto Sans SC Thin"/>
              <a:cs typeface="Noto Sans SC Thin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2143125" y="4486275"/>
            <a:ext cx="9286875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B04190A-035D-4C8C-A0CF-FF1202905229}"/>
              </a:ext>
            </a:extLst>
          </p:cNvPr>
          <p:cNvSpPr>
            <a:spLocks noGrp="1"/>
          </p:cNvSpPr>
          <p:nvPr/>
        </p:nvSpPr>
        <p:spPr>
          <a:xfrm>
            <a:off x="476250" y="47910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2025 </a:t>
            </a:r>
            <a:r>
              <a:rPr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8 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979BDF-4A1F-4DDC-A608-7DD12BF9312D}"/>
              </a:ext>
            </a:extLst>
          </p:cNvPr>
          <p:cNvSpPr>
            <a:spLocks noGrp="1"/>
          </p:cNvSpPr>
          <p:nvPr/>
        </p:nvSpPr>
        <p:spPr>
          <a:xfrm>
            <a:off x="2143125" y="47910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带材料拜访教授</a:t>
            </a:r>
            <a:r>
              <a:rPr lang="zh-CN" altLang="en-US" sz="187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，获得初步意见</a:t>
            </a:r>
            <a:endParaRPr sz="1875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14051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E318D1B-59D0-4423-8BE4-32614B6122B0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Timeline:</a:t>
            </a: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 套磁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6E05ED2-3429-434F-865B-B678171E08D0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48B9B8-C917-4289-A294-7EE8811127AE}"/>
              </a:ext>
            </a:extLst>
          </p:cNvPr>
          <p:cNvSpPr>
            <a:spLocks noGrp="1"/>
          </p:cNvSpPr>
          <p:nvPr/>
        </p:nvSpPr>
        <p:spPr>
          <a:xfrm>
            <a:off x="495300" y="16383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每天</a:t>
            </a:r>
            <a:r>
              <a:rPr sz="187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≥3 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0ED3B5-44A4-4782-A979-D8B5E8AE0407}"/>
              </a:ext>
            </a:extLst>
          </p:cNvPr>
          <p:cNvSpPr>
            <a:spLocks noGrp="1"/>
          </p:cNvSpPr>
          <p:nvPr/>
        </p:nvSpPr>
        <p:spPr>
          <a:xfrm>
            <a:off x="2857500" y="16383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根据回复更新导师与选校清单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495300" y="2305050"/>
            <a:ext cx="71247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BB56CA8-2225-42C4-AEAE-B75B960F0AE3}"/>
              </a:ext>
            </a:extLst>
          </p:cNvPr>
          <p:cNvSpPr>
            <a:spLocks noGrp="1"/>
          </p:cNvSpPr>
          <p:nvPr/>
        </p:nvSpPr>
        <p:spPr>
          <a:xfrm>
            <a:off x="495300" y="26384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非正式面试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D13ECB-671E-4EEA-AEDB-3C55B1B3A220}"/>
              </a:ext>
            </a:extLst>
          </p:cNvPr>
          <p:cNvSpPr>
            <a:spLocks noGrp="1"/>
          </p:cNvSpPr>
          <p:nvPr/>
        </p:nvSpPr>
        <p:spPr>
          <a:xfrm>
            <a:off x="2857500" y="2638425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CMU · GT · WashU · UMD</a:t>
            </a: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495300" y="3305175"/>
            <a:ext cx="71247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D56FBE3C-AA40-4FFC-857B-FE59861DA49E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多轮修改</a:t>
            </a:r>
            <a:r>
              <a:rPr sz="187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SOP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8D409-F883-4C10-A262-E61B66C1482B}"/>
              </a:ext>
            </a:extLst>
          </p:cNvPr>
          <p:cNvSpPr>
            <a:spLocks noGrp="1"/>
          </p:cNvSpPr>
          <p:nvPr/>
        </p:nvSpPr>
        <p:spPr>
          <a:xfrm>
            <a:off x="2857500" y="36385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0" dirty="0" err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师兄师姐</a:t>
            </a:r>
            <a:r>
              <a:rPr lang="zh-CN" altLang="en-US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，</a:t>
            </a:r>
            <a:r>
              <a:rPr sz="1425" b="0" dirty="0" err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导师</a:t>
            </a:r>
            <a:r>
              <a:rPr lang="zh-CN" altLang="en-US" sz="1425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， </a:t>
            </a:r>
            <a:r>
              <a:rPr sz="1425" b="0" dirty="0" err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同学</a:t>
            </a:r>
            <a:endParaRPr sz="1425" b="0" dirty="0">
              <a:solidFill>
                <a:srgbClr val="667085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495300" y="4305300"/>
            <a:ext cx="71247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F139E29-9FE8-4E63-92BE-7DEB2482522A}"/>
              </a:ext>
            </a:extLst>
          </p:cNvPr>
          <p:cNvSpPr>
            <a:spLocks noGrp="1"/>
          </p:cNvSpPr>
          <p:nvPr/>
        </p:nvSpPr>
        <p:spPr>
          <a:xfrm>
            <a:off x="495300" y="46386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875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要推荐信</a:t>
            </a:r>
            <a:endParaRPr sz="1875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0A555A-7460-420B-B7F4-6815C640F4D9}"/>
              </a:ext>
            </a:extLst>
          </p:cNvPr>
          <p:cNvSpPr>
            <a:spLocks noGrp="1"/>
          </p:cNvSpPr>
          <p:nvPr/>
        </p:nvSpPr>
        <p:spPr>
          <a:xfrm>
            <a:off x="2857500" y="4638675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altLang="zh-CN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UM</a:t>
            </a:r>
            <a:r>
              <a:rPr lang="zh-CN" altLang="en-US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导师 </a:t>
            </a:r>
            <a:r>
              <a:rPr lang="en-US" altLang="zh-CN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+ </a:t>
            </a:r>
            <a:r>
              <a:rPr lang="zh-CN" altLang="en-US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交大导师 </a:t>
            </a:r>
            <a:r>
              <a:rPr lang="en-US" altLang="zh-CN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+ 3</a:t>
            </a:r>
            <a:r>
              <a:rPr lang="zh-CN" altLang="en-US" sz="1425" b="0" dirty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个授课老师</a:t>
            </a:r>
            <a:endParaRPr sz="1425" b="0" dirty="0">
              <a:solidFill>
                <a:srgbClr val="667085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495300" y="5305425"/>
            <a:ext cx="71247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5DFF6CA5-DC65-45B1-A960-F9D34241287A}"/>
              </a:ext>
            </a:extLst>
          </p:cNvPr>
          <p:cNvSpPr>
            <a:spLocks noGrp="1"/>
          </p:cNvSpPr>
          <p:nvPr/>
        </p:nvSpPr>
        <p:spPr>
          <a:xfrm>
            <a:off x="8077200" y="1657350"/>
            <a:ext cx="3238500" cy="3448050"/>
          </a:xfrm>
          <a:prstGeom prst="rect">
            <a:avLst/>
          </a:prstGeom>
          <a:solidFill>
            <a:srgbClr val="DDEB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A09709-73B1-4846-88BA-3FA8DAC26801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 dirty="0" err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线下连接的增益</a:t>
            </a:r>
            <a:endParaRPr sz="1950" b="1" dirty="0">
              <a:solidFill>
                <a:srgbClr val="2F6FED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9F7E00-A40C-46FF-8823-0B40B7F40583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571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SfN</a:t>
            </a:r>
            <a:r>
              <a:rPr sz="180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</a:t>
            </a:r>
            <a:r>
              <a:rPr sz="1800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会议上遇到两位已面试导师，面对面交流让彼此的判断更具体</a:t>
            </a:r>
            <a:r>
              <a:rPr sz="180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86EB3F-E2AB-B5EF-4E52-FA315DF479A0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2025 9-11</a:t>
            </a:r>
            <a:r>
              <a:rPr sz="1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 月</a:t>
            </a:r>
          </a:p>
        </p:txBody>
      </p:sp>
    </p:spTree>
    <p:extLst>
      <p:ext uri="{BB962C8B-B14F-4D97-AF65-F5344CB8AC3E}">
        <p14:creationId xmlns:p14="http://schemas.microsoft.com/office/powerpoint/2010/main" val="130390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83A491-BFCB-2E75-648F-BB5FCD8EC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60" y="178692"/>
            <a:ext cx="10155480" cy="65006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5EBF887-D169-154F-F80A-A31B800AF997}"/>
              </a:ext>
            </a:extLst>
          </p:cNvPr>
          <p:cNvSpPr>
            <a:spLocks noGrp="1"/>
          </p:cNvSpPr>
          <p:nvPr/>
        </p:nvSpPr>
        <p:spPr>
          <a:xfrm>
            <a:off x="149524" y="178692"/>
            <a:ext cx="11065175" cy="10642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如何</a:t>
            </a:r>
            <a:endParaRPr lang="en-US" altLang="zh-CN"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套磁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272943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8D50D73-03F1-4A27-8F9E-C599BBDAC08F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altLang="zh-CN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Timeline</a:t>
            </a: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： 正式申请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0DBDA954-DFAC-4C08-9A82-70F1A18E7BF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E47050-C25D-45E5-8DAC-DA9A35847DD2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3429000" cy="363855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F325CE-A2D7-4B81-9A3B-ABA5B43C1788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2025 </a:t>
            </a:r>
            <a:r>
              <a:rPr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11–12 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944758-325C-4054-831E-FFFB1993789E}"/>
              </a:ext>
            </a:extLst>
          </p:cNvPr>
          <p:cNvSpPr>
            <a:spLocks noGrp="1"/>
          </p:cNvSpPr>
          <p:nvPr/>
        </p:nvSpPr>
        <p:spPr>
          <a:xfrm>
            <a:off x="723900" y="239077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3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提交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78EDC1-3769-4ED0-BE1C-DE567780F0A3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每天填写</a:t>
            </a: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1–2 </a:t>
            </a:r>
            <a:r>
              <a:rPr sz="1650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所学校</a:t>
            </a:r>
            <a:endParaRPr lang="en-US"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endParaRPr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12/15 </a:t>
            </a:r>
            <a:r>
              <a:rPr sz="1650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前完成全部申请</a:t>
            </a:r>
            <a:endParaRPr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338F61-EB54-4FF9-9317-68E5B86C941C}"/>
              </a:ext>
            </a:extLst>
          </p:cNvPr>
          <p:cNvSpPr>
            <a:spLocks noGrp="1"/>
          </p:cNvSpPr>
          <p:nvPr/>
        </p:nvSpPr>
        <p:spPr>
          <a:xfrm>
            <a:off x="723900" y="47339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5F647E-E57C-413E-929B-29881532750D}"/>
              </a:ext>
            </a:extLst>
          </p:cNvPr>
          <p:cNvSpPr>
            <a:spLocks noGrp="1"/>
          </p:cNvSpPr>
          <p:nvPr/>
        </p:nvSpPr>
        <p:spPr>
          <a:xfrm>
            <a:off x="4267200" y="1676400"/>
            <a:ext cx="3429000" cy="363855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AD6380-9969-422F-81FA-B65503A488ED}"/>
              </a:ext>
            </a:extLst>
          </p:cNvPr>
          <p:cNvSpPr>
            <a:spLocks noGrp="1"/>
          </p:cNvSpPr>
          <p:nvPr/>
        </p:nvSpPr>
        <p:spPr>
          <a:xfrm>
            <a:off x="4533900" y="1981200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2025 </a:t>
            </a:r>
            <a:r>
              <a:rPr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12 月–</a:t>
            </a:r>
            <a:r>
              <a:rPr lang="en-US"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2026</a:t>
            </a:r>
            <a:r>
              <a:rPr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 1 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73AC58-CA6B-46CB-9E5D-7889474CB1B3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3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录取与面试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1021FE-896D-4C6C-8744-965B189668B6}"/>
              </a:ext>
            </a:extLst>
          </p:cNvPr>
          <p:cNvSpPr>
            <a:spLocks noGrp="1"/>
          </p:cNvSpPr>
          <p:nvPr/>
        </p:nvSpPr>
        <p:spPr>
          <a:xfrm>
            <a:off x="4533900" y="3162300"/>
            <a:ext cx="2804304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GT  · WashU</a:t>
            </a: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USC · CMU</a:t>
            </a:r>
            <a:r>
              <a:rPr lang="en-US"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</a:t>
            </a:r>
            <a:r>
              <a:rPr lang="zh-CN" altLang="en-US"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录取</a:t>
            </a:r>
            <a:endParaRPr lang="en-US" altLang="zh-CN"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endParaRPr lang="en-US" sz="165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其他学校面试</a:t>
            </a:r>
            <a:endParaRPr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FAB543-CEF5-411A-B5A5-7082C644D14B}"/>
              </a:ext>
            </a:extLst>
          </p:cNvPr>
          <p:cNvSpPr>
            <a:spLocks noGrp="1"/>
          </p:cNvSpPr>
          <p:nvPr/>
        </p:nvSpPr>
        <p:spPr>
          <a:xfrm>
            <a:off x="4533900" y="47339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54C70B-0237-4547-B772-2F0AA505FAD2}"/>
              </a:ext>
            </a:extLst>
          </p:cNvPr>
          <p:cNvSpPr>
            <a:spLocks noGrp="1"/>
          </p:cNvSpPr>
          <p:nvPr/>
        </p:nvSpPr>
        <p:spPr>
          <a:xfrm>
            <a:off x="8077200" y="1676400"/>
            <a:ext cx="3429000" cy="363855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1BBF0D-0B0B-4A7E-8DE1-A41086F39900}"/>
              </a:ext>
            </a:extLst>
          </p:cNvPr>
          <p:cNvSpPr>
            <a:spLocks noGrp="1"/>
          </p:cNvSpPr>
          <p:nvPr/>
        </p:nvSpPr>
        <p:spPr>
          <a:xfrm>
            <a:off x="8343900" y="1981200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en-US"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2026 </a:t>
            </a:r>
            <a:r>
              <a:rPr sz="135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2–3 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D3A03A-47A8-4989-9913-AFF7FFE12E21}"/>
              </a:ext>
            </a:extLst>
          </p:cNvPr>
          <p:cNvSpPr>
            <a:spLocks noGrp="1"/>
          </p:cNvSpPr>
          <p:nvPr/>
        </p:nvSpPr>
        <p:spPr>
          <a:xfrm>
            <a:off x="8343900" y="239077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32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验证与决定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C136E9-C365-48DB-A172-B0E93CFDCEC5}"/>
              </a:ext>
            </a:extLst>
          </p:cNvPr>
          <p:cNvSpPr>
            <a:spLocks noGrp="1"/>
          </p:cNvSpPr>
          <p:nvPr/>
        </p:nvSpPr>
        <p:spPr>
          <a:xfrm>
            <a:off x="8343900" y="316230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UM · UPenn · WashU </a:t>
            </a:r>
            <a:r>
              <a:rPr sz="1650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访校</a:t>
            </a:r>
            <a:r>
              <a:rPr lang="zh-CN" altLang="en-US"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面试</a:t>
            </a:r>
            <a:endParaRPr lang="en-US" altLang="zh-CN"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endParaRPr sz="1650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3</a:t>
            </a:r>
            <a:r>
              <a:rPr lang="en-US" sz="165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.</a:t>
            </a: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8 </a:t>
            </a:r>
            <a:r>
              <a:rPr sz="1650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接受</a:t>
            </a:r>
            <a:r>
              <a:rPr sz="1650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 CMU offer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26AD19-7721-4EA5-83C6-BDFBEF2D35F4}"/>
              </a:ext>
            </a:extLst>
          </p:cNvPr>
          <p:cNvSpPr>
            <a:spLocks noGrp="1"/>
          </p:cNvSpPr>
          <p:nvPr/>
        </p:nvSpPr>
        <p:spPr>
          <a:xfrm>
            <a:off x="8343900" y="47339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585B92-2FCC-718B-24C7-B5BA958C7439}"/>
              </a:ext>
            </a:extLst>
          </p:cNvPr>
          <p:cNvSpPr>
            <a:spLocks noGrp="1"/>
          </p:cNvSpPr>
          <p:nvPr/>
        </p:nvSpPr>
        <p:spPr>
          <a:xfrm>
            <a:off x="6156744" y="3095896"/>
            <a:ext cx="1371960" cy="10570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10000"/>
          </a:bodyPr>
          <a:lstStyle/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650" b="1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强导师制</a:t>
            </a:r>
            <a:r>
              <a:rPr lang="zh-CN" altLang="en-US" sz="1650" b="0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：</a:t>
            </a:r>
            <a:endParaRPr lang="en-US" altLang="zh-CN" sz="1650" b="0" dirty="0">
              <a:solidFill>
                <a:srgbClr val="C00000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650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录取快，不需要正式面试，一个老师就可以决定录取你</a:t>
            </a:r>
            <a:endParaRPr sz="1650" b="0" dirty="0">
              <a:solidFill>
                <a:srgbClr val="C00000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2E60E2-C3B7-9589-1262-08AD060B50F8}"/>
              </a:ext>
            </a:extLst>
          </p:cNvPr>
          <p:cNvSpPr>
            <a:spLocks noGrp="1"/>
          </p:cNvSpPr>
          <p:nvPr/>
        </p:nvSpPr>
        <p:spPr>
          <a:xfrm>
            <a:off x="10096140" y="2167028"/>
            <a:ext cx="1371960" cy="9288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650" b="1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强</a:t>
            </a:r>
            <a:r>
              <a:rPr lang="en-US" altLang="zh-CN" sz="1650" b="1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committee</a:t>
            </a:r>
            <a:r>
              <a:rPr lang="zh-CN" altLang="en-US" sz="1650" b="1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制</a:t>
            </a:r>
            <a:r>
              <a:rPr lang="zh-CN" altLang="en-US" sz="1650" b="0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：</a:t>
            </a:r>
            <a:endParaRPr lang="en-US" altLang="zh-CN" sz="1650" b="0" dirty="0">
              <a:solidFill>
                <a:srgbClr val="C00000"/>
              </a:solidFill>
              <a:latin typeface="Noto Sans SC Thin"/>
              <a:ea typeface="Noto Sans SC Thin"/>
              <a:cs typeface="Noto Sans SC Thin"/>
            </a:endParaRPr>
          </a:p>
          <a:p>
            <a:pPr algn="l">
              <a:defRPr sz="165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650" dirty="0">
                <a:solidFill>
                  <a:srgbClr val="C00000"/>
                </a:solidFill>
                <a:latin typeface="Noto Sans SC Thin"/>
                <a:ea typeface="Noto Sans SC Thin"/>
                <a:cs typeface="Noto Sans SC Thin"/>
              </a:rPr>
              <a:t>录取慢，面试复杂，一般需要面试多个老师</a:t>
            </a:r>
            <a:endParaRPr sz="1650" b="0" dirty="0">
              <a:solidFill>
                <a:srgbClr val="C00000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136003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664ED6-3FC1-738C-AAC4-CD936F48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73"/>
            <a:ext cx="12192000" cy="424645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83668FC-8783-1378-642A-55379D2ACCF7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选校</a:t>
            </a:r>
            <a:r>
              <a:rPr lang="en-US" altLang="zh-CN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checklist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364416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322F7B1-F98D-EB93-BA87-345CEB7C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71" y="205352"/>
            <a:ext cx="6081861" cy="63162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3081B6-E967-3DC9-2A19-AA97CF862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370" y="331122"/>
            <a:ext cx="5757420" cy="17047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09E459-D375-8E4E-BDE6-67F417C5C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370" y="2098650"/>
            <a:ext cx="5515649" cy="43539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94563A-4C18-F68C-B15E-F1F0082A9E04}"/>
              </a:ext>
            </a:extLst>
          </p:cNvPr>
          <p:cNvSpPr txBox="1"/>
          <p:nvPr/>
        </p:nvSpPr>
        <p:spPr>
          <a:xfrm>
            <a:off x="2737449" y="983093"/>
            <a:ext cx="1500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讲故事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F6FE5C-74B4-0A2C-D3FF-502D59F5AA9F}"/>
              </a:ext>
            </a:extLst>
          </p:cNvPr>
          <p:cNvSpPr txBox="1"/>
          <p:nvPr/>
        </p:nvSpPr>
        <p:spPr>
          <a:xfrm>
            <a:off x="1897811" y="2285682"/>
            <a:ext cx="327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教育经历</a:t>
            </a:r>
            <a:r>
              <a:rPr lang="en-US" altLang="zh-CN" sz="2400" dirty="0">
                <a:solidFill>
                  <a:srgbClr val="C00000"/>
                </a:solidFill>
                <a:highlight>
                  <a:srgbClr val="C0C0C0"/>
                </a:highlight>
              </a:rPr>
              <a:t>&amp;</a:t>
            </a:r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成绩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4B4E88-FCA3-5C1A-1477-A33EBA6F2623}"/>
              </a:ext>
            </a:extLst>
          </p:cNvPr>
          <p:cNvSpPr txBox="1"/>
          <p:nvPr/>
        </p:nvSpPr>
        <p:spPr>
          <a:xfrm>
            <a:off x="2737449" y="5344561"/>
            <a:ext cx="1622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项目二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130101-E5C9-F3DC-E068-E0B4A628EFE5}"/>
              </a:ext>
            </a:extLst>
          </p:cNvPr>
          <p:cNvSpPr txBox="1"/>
          <p:nvPr/>
        </p:nvSpPr>
        <p:spPr>
          <a:xfrm>
            <a:off x="2737449" y="3752331"/>
            <a:ext cx="1733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项目一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9BE32E-5BDE-FEE9-42B4-FA6553A9DF4B}"/>
              </a:ext>
            </a:extLst>
          </p:cNvPr>
          <p:cNvSpPr txBox="1"/>
          <p:nvPr/>
        </p:nvSpPr>
        <p:spPr>
          <a:xfrm>
            <a:off x="8833448" y="910119"/>
            <a:ext cx="1391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项目三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DA130D-F74D-F6F0-1E78-2AD6F4F022AA}"/>
              </a:ext>
            </a:extLst>
          </p:cNvPr>
          <p:cNvSpPr txBox="1"/>
          <p:nvPr/>
        </p:nvSpPr>
        <p:spPr>
          <a:xfrm>
            <a:off x="15038717" y="-3516702"/>
            <a:ext cx="93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highlight>
                  <a:srgbClr val="C0C0C0"/>
                </a:highlight>
              </a:rPr>
              <a:t>项目三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643515-A0C5-CF2D-0CBA-5191374D16BF}"/>
              </a:ext>
            </a:extLst>
          </p:cNvPr>
          <p:cNvSpPr txBox="1"/>
          <p:nvPr/>
        </p:nvSpPr>
        <p:spPr>
          <a:xfrm>
            <a:off x="8833448" y="2383997"/>
            <a:ext cx="1321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项目三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0EF5D0-2B61-7D3C-6109-B2271BBD91B2}"/>
              </a:ext>
            </a:extLst>
          </p:cNvPr>
          <p:cNvSpPr txBox="1"/>
          <p:nvPr/>
        </p:nvSpPr>
        <p:spPr>
          <a:xfrm>
            <a:off x="8155515" y="3336832"/>
            <a:ext cx="2185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自然的过渡到申请的项目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655087-E975-F8EC-ED0B-FFDCF829C535}"/>
              </a:ext>
            </a:extLst>
          </p:cNvPr>
          <p:cNvSpPr txBox="1"/>
          <p:nvPr/>
        </p:nvSpPr>
        <p:spPr>
          <a:xfrm>
            <a:off x="7857941" y="4617696"/>
            <a:ext cx="2735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每个老师一两句话，讲自己的意向导师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DCF837-2FB4-470C-CAF8-3582971AECEE}"/>
              </a:ext>
            </a:extLst>
          </p:cNvPr>
          <p:cNvSpPr txBox="1"/>
          <p:nvPr/>
        </p:nvSpPr>
        <p:spPr>
          <a:xfrm>
            <a:off x="8441977" y="5806226"/>
            <a:ext cx="1599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C0C0C0"/>
                </a:highlight>
              </a:rPr>
              <a:t>自信结尾</a:t>
            </a:r>
          </a:p>
        </p:txBody>
      </p:sp>
    </p:spTree>
    <p:extLst>
      <p:ext uri="{BB962C8B-B14F-4D97-AF65-F5344CB8AC3E}">
        <p14:creationId xmlns:p14="http://schemas.microsoft.com/office/powerpoint/2010/main" val="1877173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F1EBF2-03A3-4C8A-CB45-0243F0CF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" y="1069164"/>
            <a:ext cx="12173039" cy="47196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A67239E-FB79-FF12-A1AB-49E0519E676F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推荐信</a:t>
            </a:r>
            <a:r>
              <a:rPr lang="en-US" altLang="zh-CN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checklist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411963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17C620-AB22-48D9-B070-D95D315CF27A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PhD </a:t>
            </a: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申请什么更重要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E4AC478-6E83-4F3C-BC37-9CEEDCC51A75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C8B1A0-2AD1-4FE2-9587-4E2B15898E65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0382250" cy="752475"/>
          </a:xfrm>
          <a:prstGeom prst="rect">
            <a:avLst/>
          </a:prstGeom>
          <a:solidFill>
            <a:srgbClr val="DDEBFF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F9BDDA-E65A-4C59-8C90-8AE3C7BF029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Connection / 推荐信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B87C1F-D892-4875-92CB-1AC45A6BE8E3}"/>
              </a:ext>
            </a:extLst>
          </p:cNvPr>
          <p:cNvSpPr>
            <a:spLocks noGrp="1"/>
          </p:cNvSpPr>
          <p:nvPr/>
        </p:nvSpPr>
        <p:spPr>
          <a:xfrm>
            <a:off x="4095750" y="18288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最重要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2CC8BA-C80F-4101-B5B6-E9223C0C0010}"/>
              </a:ext>
            </a:extLst>
          </p:cNvPr>
          <p:cNvSpPr>
            <a:spLocks noGrp="1"/>
          </p:cNvSpPr>
          <p:nvPr/>
        </p:nvSpPr>
        <p:spPr>
          <a:xfrm>
            <a:off x="5314950" y="179070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425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同行背书：</a:t>
            </a:r>
            <a:r>
              <a:rPr sz="1425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你能做科研</a:t>
            </a:r>
            <a:r>
              <a:rPr lang="zh-CN" altLang="en-US" sz="1425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，</a:t>
            </a:r>
            <a:r>
              <a:rPr sz="1425" b="0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也适合一起工作</a:t>
            </a:r>
            <a:endParaRPr sz="1425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E26F04-0EB0-4B1F-AD22-C1416BDB3D92}"/>
              </a:ext>
            </a:extLst>
          </p:cNvPr>
          <p:cNvSpPr>
            <a:spLocks noGrp="1"/>
          </p:cNvSpPr>
          <p:nvPr/>
        </p:nvSpPr>
        <p:spPr>
          <a:xfrm>
            <a:off x="457200" y="2628900"/>
            <a:ext cx="9144000" cy="752475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6AFD5-3297-40CC-B2B8-D0902EF9E4D2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科研能力 / 面试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33744C-DE0F-4C26-BDD2-2A5310C61482}"/>
              </a:ext>
            </a:extLst>
          </p:cNvPr>
          <p:cNvSpPr>
            <a:spLocks noGrp="1"/>
          </p:cNvSpPr>
          <p:nvPr/>
        </p:nvSpPr>
        <p:spPr>
          <a:xfrm>
            <a:off x="4095750" y="28384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核心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90572C-4830-462B-88FB-9318A55FC6F4}"/>
              </a:ext>
            </a:extLst>
          </p:cNvPr>
          <p:cNvSpPr>
            <a:spLocks noGrp="1"/>
          </p:cNvSpPr>
          <p:nvPr/>
        </p:nvSpPr>
        <p:spPr>
          <a:xfrm>
            <a:off x="5314950" y="2800349"/>
            <a:ext cx="4000500" cy="460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425" b="0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沟通能力，思考能力，性格，是否能在短时间内把复杂的东西讲清楚</a:t>
            </a:r>
            <a:endParaRPr sz="1425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DC350F-1FBE-499D-B2F0-A45A97C201F7}"/>
              </a:ext>
            </a:extLst>
          </p:cNvPr>
          <p:cNvSpPr>
            <a:spLocks noGrp="1"/>
          </p:cNvSpPr>
          <p:nvPr/>
        </p:nvSpPr>
        <p:spPr>
          <a:xfrm>
            <a:off x="457200" y="3638550"/>
            <a:ext cx="7905750" cy="752475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3476EA-A35A-4BF4-A73C-2196E4956DF1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科研经历 / SOP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2A5868-096B-4518-81DB-54150633C09B}"/>
              </a:ext>
            </a:extLst>
          </p:cNvPr>
          <p:cNvSpPr>
            <a:spLocks noGrp="1"/>
          </p:cNvSpPr>
          <p:nvPr/>
        </p:nvSpPr>
        <p:spPr>
          <a:xfrm>
            <a:off x="4095750" y="38481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证据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57F522-FC66-4D98-9F8D-E31699739FE9}"/>
              </a:ext>
            </a:extLst>
          </p:cNvPr>
          <p:cNvSpPr>
            <a:spLocks noGrp="1"/>
          </p:cNvSpPr>
          <p:nvPr/>
        </p:nvSpPr>
        <p:spPr>
          <a:xfrm>
            <a:off x="5314950" y="38100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05" lnSpcReduction="10000"/>
          </a:bodyPr>
          <a:lstStyle/>
          <a:p>
            <a:pPr algn="l">
              <a:defRPr sz="1425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1425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暑研，长期科研，发表物，独立科研的项目会比较有亮点</a:t>
            </a:r>
            <a:endParaRPr sz="1425" b="0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77E3C1-1FD6-4AD3-BF88-8D1A5C4904C8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6667500" cy="752475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88586B-2075-4509-8D6F-618112F84590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成绩 / GPA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B33FE1-688B-418E-8FD2-E1F0621501F5}"/>
              </a:ext>
            </a:extLst>
          </p:cNvPr>
          <p:cNvSpPr>
            <a:spLocks noGrp="1"/>
          </p:cNvSpPr>
          <p:nvPr/>
        </p:nvSpPr>
        <p:spPr>
          <a:xfrm>
            <a:off x="4095750" y="48577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门槛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D18F7D-37B5-496D-B64F-5FC49044E984}"/>
              </a:ext>
            </a:extLst>
          </p:cNvPr>
          <p:cNvSpPr>
            <a:spLocks noGrp="1"/>
          </p:cNvSpPr>
          <p:nvPr/>
        </p:nvSpPr>
        <p:spPr>
          <a:xfrm>
            <a:off x="5314950" y="48196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05" lnSpcReduction="10000"/>
          </a:bodyPr>
          <a:lstStyle/>
          <a:p>
            <a:pPr algn="l">
              <a:defRPr sz="1425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0" dirty="0" err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重要，但通常不是最终决定因素</a:t>
            </a:r>
            <a:endParaRPr sz="1425" b="0" dirty="0">
              <a:solidFill>
                <a:srgbClr val="667085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33894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C63348-4B5A-42F2-A34A-F77173C83C5D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如何选</a:t>
            </a:r>
            <a:r>
              <a:rPr lang="en-US" altLang="zh-CN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offer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FE7DA77-39DA-4C51-BD48-0B1607985E12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7C3CD3-CB3F-473A-825D-CFC3DED019FD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E47F96-B627-48AC-8F19-4052A8B4075C}"/>
              </a:ext>
            </a:extLst>
          </p:cNvPr>
          <p:cNvSpPr>
            <a:spLocks noGrp="1"/>
          </p:cNvSpPr>
          <p:nvPr/>
        </p:nvSpPr>
        <p:spPr>
          <a:xfrm>
            <a:off x="1285875" y="15049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导师人品 &amp; 经费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97CD2B-F861-42BE-BB89-7675CA22FED3}"/>
              </a:ext>
            </a:extLst>
          </p:cNvPr>
          <p:cNvSpPr>
            <a:spLocks noGrp="1"/>
          </p:cNvSpPr>
          <p:nvPr/>
        </p:nvSpPr>
        <p:spPr>
          <a:xfrm>
            <a:off x="5381625" y="15049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最基本的排除项</a:t>
            </a: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285875" y="2066925"/>
            <a:ext cx="962025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0AF3436-3E01-482B-AF69-E75D2BA4FE90}"/>
              </a:ext>
            </a:extLst>
          </p:cNvPr>
          <p:cNvSpPr>
            <a:spLocks noGrp="1"/>
          </p:cNvSpPr>
          <p:nvPr/>
        </p:nvSpPr>
        <p:spPr>
          <a:xfrm>
            <a:off x="476250" y="23622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6FFEB2-D6AB-4741-B61F-8AD6A3456D9F}"/>
              </a:ext>
            </a:extLst>
          </p:cNvPr>
          <p:cNvSpPr>
            <a:spLocks noGrp="1"/>
          </p:cNvSpPr>
          <p:nvPr/>
        </p:nvSpPr>
        <p:spPr>
          <a:xfrm>
            <a:off x="1285875" y="23622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研究方向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CAB0C2-7D26-4553-8F6E-CEAC347103CA}"/>
              </a:ext>
            </a:extLst>
          </p:cNvPr>
          <p:cNvSpPr>
            <a:spLocks noGrp="1"/>
          </p:cNvSpPr>
          <p:nvPr/>
        </p:nvSpPr>
        <p:spPr>
          <a:xfrm>
            <a:off x="5381625" y="2362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重中之重</a:t>
            </a: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1285875" y="2924175"/>
            <a:ext cx="962025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29DB9D09-73AD-4C42-9CA2-CB01F3A1D6D2}"/>
              </a:ext>
            </a:extLst>
          </p:cNvPr>
          <p:cNvSpPr>
            <a:spLocks noGrp="1"/>
          </p:cNvSpPr>
          <p:nvPr/>
        </p:nvSpPr>
        <p:spPr>
          <a:xfrm>
            <a:off x="476250" y="321945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4A23E5-5292-42F3-B51F-FD6AB6EEC3CE}"/>
              </a:ext>
            </a:extLst>
          </p:cNvPr>
          <p:cNvSpPr>
            <a:spLocks noGrp="1"/>
          </p:cNvSpPr>
          <p:nvPr/>
        </p:nvSpPr>
        <p:spPr>
          <a:xfrm>
            <a:off x="1285875" y="32194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学校 &amp; 实验室氛围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84686F-F2ED-4262-A374-4CE93F2CAFB6}"/>
              </a:ext>
            </a:extLst>
          </p:cNvPr>
          <p:cNvSpPr>
            <a:spLocks noGrp="1"/>
          </p:cNvSpPr>
          <p:nvPr/>
        </p:nvSpPr>
        <p:spPr>
          <a:xfrm>
            <a:off x="5381625" y="32194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最好亲身感受</a:t>
            </a: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1285875" y="3781425"/>
            <a:ext cx="962025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76C2C87A-8EC5-4EEE-A147-D9CDFCE9E7A8}"/>
              </a:ext>
            </a:extLst>
          </p:cNvPr>
          <p:cNvSpPr>
            <a:spLocks noGrp="1"/>
          </p:cNvSpPr>
          <p:nvPr/>
        </p:nvSpPr>
        <p:spPr>
          <a:xfrm>
            <a:off x="476250" y="40767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A79D19-9732-4831-BD9E-00CC8346CE02}"/>
              </a:ext>
            </a:extLst>
          </p:cNvPr>
          <p:cNvSpPr>
            <a:spLocks noGrp="1"/>
          </p:cNvSpPr>
          <p:nvPr/>
        </p:nvSpPr>
        <p:spPr>
          <a:xfrm>
            <a:off x="1285875" y="40767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城市 &amp; 气候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86CB82-4CC6-40F9-B5EF-CF216A97F682}"/>
              </a:ext>
            </a:extLst>
          </p:cNvPr>
          <p:cNvSpPr>
            <a:spLocks noGrp="1"/>
          </p:cNvSpPr>
          <p:nvPr/>
        </p:nvSpPr>
        <p:spPr>
          <a:xfrm>
            <a:off x="5381625" y="40767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直接影响长期心理健康</a:t>
            </a: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1285875" y="4638675"/>
            <a:ext cx="962025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F9DE49E-6B06-4564-BAAE-6DA2634C1EC6}"/>
              </a:ext>
            </a:extLst>
          </p:cNvPr>
          <p:cNvSpPr>
            <a:spLocks noGrp="1"/>
          </p:cNvSpPr>
          <p:nvPr/>
        </p:nvSpPr>
        <p:spPr>
          <a:xfrm>
            <a:off x="476250" y="493395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BA82FC-DDB0-422A-8D51-3AD77449D4A4}"/>
              </a:ext>
            </a:extLst>
          </p:cNvPr>
          <p:cNvSpPr>
            <a:spLocks noGrp="1"/>
          </p:cNvSpPr>
          <p:nvPr/>
        </p:nvSpPr>
        <p:spPr>
          <a:xfrm>
            <a:off x="1285875" y="49339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Title / 排名 / 工资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441BFD-6DBB-4D10-B424-D800D1B8A576}"/>
              </a:ext>
            </a:extLst>
          </p:cNvPr>
          <p:cNvSpPr>
            <a:spLocks noGrp="1"/>
          </p:cNvSpPr>
          <p:nvPr/>
        </p:nvSpPr>
        <p:spPr>
          <a:xfrm>
            <a:off x="5381625" y="49339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不应主导重大决策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285875" y="5495925"/>
            <a:ext cx="962025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1086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0F2F68-6EAA-460B-8A80-A2FCCB367C2D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lang="zh-CN" altLang="en-US" sz="285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如何看导师</a:t>
            </a:r>
            <a:endParaRPr sz="285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57200" y="1323975"/>
            <a:ext cx="112776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D4F7995-8C29-4807-8D8A-5B667D5CDF62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667085"/>
                </a:solidFill>
                <a:latin typeface="Noto Sans SC Thin"/>
                <a:ea typeface="Noto Sans SC Thin"/>
                <a:cs typeface="Noto Sans SC Thin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0119EF-07FB-4BDE-A729-EA4952C62E0F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5276850" cy="3333750"/>
          </a:xfrm>
          <a:prstGeom prst="rect">
            <a:avLst/>
          </a:prstGeom>
          <a:solidFill>
            <a:srgbClr val="FCECE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CFDB10-F0AD-4CB3-A57D-537C2F47C7B4}"/>
              </a:ext>
            </a:extLst>
          </p:cNvPr>
          <p:cNvSpPr>
            <a:spLocks noGrp="1"/>
          </p:cNvSpPr>
          <p:nvPr/>
        </p:nvSpPr>
        <p:spPr>
          <a:xfrm>
            <a:off x="742950" y="19716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rPr>
              <a:t>RED FLAGS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DEAE5A5-7F05-439D-ADA9-91433C3F24D7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3D75D7-A921-4BF8-97DB-F133651BCB21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171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rPr>
              <a:t>过度 push，边界感弱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1434860-1C7E-41FB-9DF7-4913EB1094CF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FA1FFC-8B6F-40E9-9B4B-E6ACBD70B289}"/>
              </a:ext>
            </a:extLst>
          </p:cNvPr>
          <p:cNvSpPr>
            <a:spLocks noGrp="1"/>
          </p:cNvSpPr>
          <p:nvPr/>
        </p:nvSpPr>
        <p:spPr>
          <a:xfrm>
            <a:off x="952500" y="3352800"/>
            <a:ext cx="4171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rPr>
              <a:t>尚未录取就要求开始干活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2F2C9C-A323-4860-AD14-80495F42CAC0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9A8F0E-A842-4489-8320-4E44DB3364A7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4171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>
                <a:solidFill>
                  <a:srgbClr val="C94545"/>
                </a:solidFill>
                <a:latin typeface="Noto Sans SC Thin"/>
                <a:ea typeface="Noto Sans SC Thin"/>
                <a:cs typeface="Noto Sans SC Thin"/>
              </a:rPr>
              <a:t>频繁逼问决定，制造压力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D409A3-86F8-43CC-BA63-1249BEC9F6F6}"/>
              </a:ext>
            </a:extLst>
          </p:cNvPr>
          <p:cNvSpPr>
            <a:spLocks noGrp="1"/>
          </p:cNvSpPr>
          <p:nvPr/>
        </p:nvSpPr>
        <p:spPr>
          <a:xfrm>
            <a:off x="6000750" y="1676400"/>
            <a:ext cx="5734050" cy="3333750"/>
          </a:xfrm>
          <a:prstGeom prst="rect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7B7299-F08B-4664-B1E0-D492A34BB12E}"/>
              </a:ext>
            </a:extLst>
          </p:cNvPr>
          <p:cNvSpPr>
            <a:spLocks noGrp="1"/>
          </p:cNvSpPr>
          <p:nvPr/>
        </p:nvSpPr>
        <p:spPr>
          <a:xfrm>
            <a:off x="6305550" y="19716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GREEN FLAGS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ADC120E-A64C-42FD-A1D8-2A3AB70466AA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A492BA-FBCA-4D1D-95FC-DDE6B0E14226}"/>
              </a:ext>
            </a:extLst>
          </p:cNvPr>
          <p:cNvSpPr>
            <a:spLocks noGrp="1"/>
          </p:cNvSpPr>
          <p:nvPr/>
        </p:nvSpPr>
        <p:spPr>
          <a:xfrm>
            <a:off x="6515100" y="2647950"/>
            <a:ext cx="4648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经费稳定，研究资源充足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D101743-CBF9-4458-BA7B-C412BAD40189}"/>
              </a:ext>
            </a:extLst>
          </p:cNvPr>
          <p:cNvSpPr>
            <a:spLocks noGrp="1"/>
          </p:cNvSpPr>
          <p:nvPr/>
        </p:nvSpPr>
        <p:spPr>
          <a:xfrm>
            <a:off x="6305550" y="34480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42EC8B-3E07-47A7-99CA-1DE449A669F7}"/>
              </a:ext>
            </a:extLst>
          </p:cNvPr>
          <p:cNvSpPr>
            <a:spLocks noGrp="1"/>
          </p:cNvSpPr>
          <p:nvPr/>
        </p:nvSpPr>
        <p:spPr>
          <a:xfrm>
            <a:off x="6515100" y="3352800"/>
            <a:ext cx="4648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尊重个人发展与最终决定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B460860-713E-465B-8285-1B89195FEDFF}"/>
              </a:ext>
            </a:extLst>
          </p:cNvPr>
          <p:cNvSpPr>
            <a:spLocks noGrp="1"/>
          </p:cNvSpPr>
          <p:nvPr/>
        </p:nvSpPr>
        <p:spPr>
          <a:xfrm>
            <a:off x="6305550" y="41529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EA8FB0-0407-4DFC-96E6-EA0354CBE3B8}"/>
              </a:ext>
            </a:extLst>
          </p:cNvPr>
          <p:cNvSpPr>
            <a:spLocks noGrp="1"/>
          </p:cNvSpPr>
          <p:nvPr/>
        </p:nvSpPr>
        <p:spPr>
          <a:xfrm>
            <a:off x="6515100" y="4057650"/>
            <a:ext cx="4648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0" dirty="0" err="1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沟通</a:t>
            </a:r>
            <a:r>
              <a:rPr sz="1650" b="0" dirty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 </a:t>
            </a:r>
            <a:r>
              <a:rPr lang="zh-CN" altLang="en-US" sz="1650" dirty="0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上</a:t>
            </a:r>
            <a:r>
              <a:rPr sz="1650" b="0" dirty="0" err="1">
                <a:solidFill>
                  <a:srgbClr val="17805C"/>
                </a:solidFill>
                <a:latin typeface="Noto Sans SC Thin"/>
                <a:ea typeface="Noto Sans SC Thin"/>
                <a:cs typeface="Noto Sans SC Thin"/>
              </a:rPr>
              <a:t>reachable，学生反馈一致</a:t>
            </a:r>
            <a:endParaRPr sz="1650" b="0" dirty="0">
              <a:solidFill>
                <a:srgbClr val="17805C"/>
              </a:solidFill>
              <a:latin typeface="Noto Sans SC Thin"/>
              <a:ea typeface="Noto Sans SC Thin"/>
              <a:cs typeface="Noto Sans SC Thi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6FCC00-B6F1-496D-9234-9DA0D99D936E}"/>
              </a:ext>
            </a:extLst>
          </p:cNvPr>
          <p:cNvSpPr>
            <a:spLocks noGrp="1"/>
          </p:cNvSpPr>
          <p:nvPr/>
        </p:nvSpPr>
        <p:spPr>
          <a:xfrm>
            <a:off x="457200" y="5467350"/>
            <a:ext cx="11277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验证方式：面试时直接问导师</a:t>
            </a:r>
            <a:r>
              <a:rPr sz="180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，</a:t>
            </a:r>
            <a:r>
              <a:rPr lang="zh-CN" altLang="en-US" sz="1800" b="1" dirty="0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和</a:t>
            </a:r>
            <a:r>
              <a:rPr sz="1800" b="1" dirty="0" err="1">
                <a:solidFill>
                  <a:srgbClr val="111827"/>
                </a:solidFill>
                <a:latin typeface="Noto Sans SC Thin"/>
                <a:ea typeface="Noto Sans SC Thin"/>
                <a:cs typeface="Noto Sans SC Thin"/>
              </a:rPr>
              <a:t>组内学生</a:t>
            </a:r>
            <a:endParaRPr sz="1800" b="1" dirty="0">
              <a:solidFill>
                <a:srgbClr val="111827"/>
              </a:solidFill>
              <a:latin typeface="Noto Sans SC Thin"/>
              <a:ea typeface="Noto Sans SC Thin"/>
              <a:cs typeface="Noto Sans SC Thin"/>
            </a:endParaRPr>
          </a:p>
        </p:txBody>
      </p:sp>
    </p:spTree>
    <p:extLst>
      <p:ext uri="{BB962C8B-B14F-4D97-AF65-F5344CB8AC3E}">
        <p14:creationId xmlns:p14="http://schemas.microsoft.com/office/powerpoint/2010/main" val="2082791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A786F1B-A293-45CD-8477-9F746B7D2503}"/>
              </a:ext>
            </a:extLst>
          </p:cNvPr>
          <p:cNvSpPr>
            <a:spLocks noGrp="1"/>
          </p:cNvSpPr>
          <p:nvPr/>
        </p:nvSpPr>
        <p:spPr>
          <a:xfrm>
            <a:off x="5466271" y="3007204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4500" b="1" dirty="0">
                <a:solidFill>
                  <a:srgbClr val="2F6FED"/>
                </a:solidFill>
                <a:latin typeface="Noto Sans SC Thin"/>
                <a:ea typeface="Noto Sans SC Thin"/>
                <a:cs typeface="Noto Sans SC Thin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58861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403</Words>
  <Application>Microsoft Office PowerPoint</Application>
  <DocSecurity>0</DocSecurity>
  <PresentationFormat>宽屏</PresentationFormat>
  <Paragraphs>117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Noto Sans SC Thin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yiwei xia</cp:lastModifiedBy>
  <cp:revision>3</cp:revision>
  <dcterms:created xsi:type="dcterms:W3CDTF">2026-07-25T04:32:47Z</dcterms:created>
  <dcterms:modified xsi:type="dcterms:W3CDTF">2026-07-26T12:35:28Z</dcterms:modified>
</cp:coreProperties>
</file>